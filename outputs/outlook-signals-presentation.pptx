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d988321a4246a1" /><Relationship Type="http://schemas.openxmlformats.org/officeDocument/2006/relationships/extended-properties" Target="/docProps/app.xml" Id="Rd22b30331cd5401e" /><Relationship Type="http://schemas.openxmlformats.org/officeDocument/2006/relationships/officeDocument" Target="/ppt/presentation.xml" Id="Rec120e421f3448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1e5485199d74039"/>
  </p:sldMasterIdLst>
  <p:notesMasterIdLst>
    <p:notesMasterId xmlns:r="http://schemas.openxmlformats.org/officeDocument/2006/relationships" r:id="Rcd5d98e7dd294448"/>
  </p:notesMasterIdLst>
  <p:sldIdLst>
    <p:sldId xmlns:r="http://schemas.openxmlformats.org/officeDocument/2006/relationships" id="256" r:id="R2d57423e34704d9c"/>
    <p:sldId xmlns:r="http://schemas.openxmlformats.org/officeDocument/2006/relationships" id="257" r:id="Rec1b9efb7314456a"/>
    <p:sldId xmlns:r="http://schemas.openxmlformats.org/officeDocument/2006/relationships" id="258" r:id="Rdc1041adff1f41cb"/>
    <p:sldId xmlns:r="http://schemas.openxmlformats.org/officeDocument/2006/relationships" id="259" r:id="Re4cd8d20ef794bf2"/>
    <p:sldId xmlns:r="http://schemas.openxmlformats.org/officeDocument/2006/relationships" id="260" r:id="R9d59f7be97ec46fe"/>
    <p:sldId xmlns:r="http://schemas.openxmlformats.org/officeDocument/2006/relationships" id="261" r:id="Rce7b9db566814601"/>
    <p:sldId xmlns:r="http://schemas.openxmlformats.org/officeDocument/2006/relationships" id="262" r:id="Rf1391f43c11d44e1"/>
    <p:sldId xmlns:r="http://schemas.openxmlformats.org/officeDocument/2006/relationships" id="263" r:id="Rd5d6db99232144bc"/>
    <p:sldId xmlns:r="http://schemas.openxmlformats.org/officeDocument/2006/relationships" id="264" r:id="Ra831dbeddb634b4d"/>
    <p:sldId xmlns:r="http://schemas.openxmlformats.org/officeDocument/2006/relationships" id="265" r:id="Rd61c7f6ff82a4d22"/>
    <p:sldId xmlns:r="http://schemas.openxmlformats.org/officeDocument/2006/relationships" id="266" r:id="R6802ec6bca58412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82389abc4a94954" /><Relationship Type="http://schemas.openxmlformats.org/officeDocument/2006/relationships/slideMaster" Target="/ppt/slideMasters/slideMaster1.xml" Id="R81e5485199d74039" /><Relationship Type="http://schemas.openxmlformats.org/officeDocument/2006/relationships/notesMaster" Target="/ppt/notesMasters/notesMaster1.xml" Id="Rcd5d98e7dd294448" /><Relationship Type="http://schemas.openxmlformats.org/officeDocument/2006/relationships/presProps" Target="/ppt/presProps.xml" Id="R3b6a0303e24d4067" /><Relationship Type="http://schemas.openxmlformats.org/officeDocument/2006/relationships/tableStyles" Target="/ppt/tableStyles.xml" Id="R363943bc5cef45c2" /><Relationship Type="http://schemas.openxmlformats.org/officeDocument/2006/relationships/slide" Target="/ppt/slides/slide1.xml" Id="R2d57423e34704d9c" /><Relationship Type="http://schemas.openxmlformats.org/officeDocument/2006/relationships/slide" Target="/ppt/slides/slide2.xml" Id="Rec1b9efb7314456a" /><Relationship Type="http://schemas.openxmlformats.org/officeDocument/2006/relationships/slide" Target="/ppt/slides/slide3.xml" Id="Rdc1041adff1f41cb" /><Relationship Type="http://schemas.openxmlformats.org/officeDocument/2006/relationships/slide" Target="/ppt/slides/slide4.xml" Id="Re4cd8d20ef794bf2" /><Relationship Type="http://schemas.openxmlformats.org/officeDocument/2006/relationships/slide" Target="/ppt/slides/slide5.xml" Id="R9d59f7be97ec46fe" /><Relationship Type="http://schemas.openxmlformats.org/officeDocument/2006/relationships/slide" Target="/ppt/slides/slide6.xml" Id="Rce7b9db566814601" /><Relationship Type="http://schemas.openxmlformats.org/officeDocument/2006/relationships/slide" Target="/ppt/slides/slide7.xml" Id="Rf1391f43c11d44e1" /><Relationship Type="http://schemas.openxmlformats.org/officeDocument/2006/relationships/slide" Target="/ppt/slides/slide8.xml" Id="Rd5d6db99232144bc" /><Relationship Type="http://schemas.openxmlformats.org/officeDocument/2006/relationships/slide" Target="/ppt/slides/slide9.xml" Id="Ra831dbeddb634b4d" /><Relationship Type="http://schemas.openxmlformats.org/officeDocument/2006/relationships/slide" Target="/ppt/slides/slide10.xml" Id="Rd61c7f6ff82a4d22" /><Relationship Type="http://schemas.openxmlformats.org/officeDocument/2006/relationships/slide" Target="/ppt/slides/slide11.xml" Id="R6802ec6bca58412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0520e9920a47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77b532c5ad4973" /><Relationship Type="http://schemas.openxmlformats.org/officeDocument/2006/relationships/notesMaster" Target="/ppt/notesMasters/notesMaster1.xml" Id="Rfb20e888793c4d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04b779c34ad4fc7" /><Relationship Type="http://schemas.openxmlformats.org/officeDocument/2006/relationships/notesMaster" Target="/ppt/notesMasters/notesMaster1.xml" Id="R505f8c2c44994cd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fa51da36e34d50" /><Relationship Type="http://schemas.openxmlformats.org/officeDocument/2006/relationships/notesMaster" Target="/ppt/notesMasters/notesMaster1.xml" Id="R1ee74ec0e7e24e5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de9ca6af5c4b73" /><Relationship Type="http://schemas.openxmlformats.org/officeDocument/2006/relationships/notesMaster" Target="/ppt/notesMasters/notesMaster1.xml" Id="R01cd9a9e24f3471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70ff028cde42aa" /><Relationship Type="http://schemas.openxmlformats.org/officeDocument/2006/relationships/notesMaster" Target="/ppt/notesMasters/notesMaster1.xml" Id="R81460c228cad4c8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a693fb8c734385" /><Relationship Type="http://schemas.openxmlformats.org/officeDocument/2006/relationships/notesMaster" Target="/ppt/notesMasters/notesMaster1.xml" Id="Re73c4a04bb88423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d74c3a704374f97" /><Relationship Type="http://schemas.openxmlformats.org/officeDocument/2006/relationships/notesMaster" Target="/ppt/notesMasters/notesMaster1.xml" Id="R9df08ce485f84d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01a0117a9e4c67" /><Relationship Type="http://schemas.openxmlformats.org/officeDocument/2006/relationships/notesMaster" Target="/ppt/notesMasters/notesMaster1.xml" Id="R086ee24f77c9410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05f207723df446f" /><Relationship Type="http://schemas.openxmlformats.org/officeDocument/2006/relationships/notesMaster" Target="/ppt/notesMasters/notesMaster1.xml" Id="R9febf976f45643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4a5257c6814c28" /><Relationship Type="http://schemas.openxmlformats.org/officeDocument/2006/relationships/notesMaster" Target="/ppt/notesMasters/notesMaster1.xml" Id="Rc14766dc7f9f46a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0381d6159094824" /><Relationship Type="http://schemas.openxmlformats.org/officeDocument/2006/relationships/notesMaster" Target="/ppt/notesMasters/notesMaster1.xml" Id="Re6eb0fcaa9284a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27b631235c426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a81e820d4834058" /><Relationship Type="http://schemas.openxmlformats.org/officeDocument/2006/relationships/slideLayout" Target="/ppt/slideLayouts/slideLayout1.xml" Id="Rfb03e9455c3a44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03e9455c3a44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f9d18a3bc940b5" /><Relationship Type="http://schemas.openxmlformats.org/officeDocument/2006/relationships/image" Target="/ppt/media/image.jpeg" Id="Rf08d9210c9d14b20" /><Relationship Type="http://schemas.openxmlformats.org/officeDocument/2006/relationships/notesSlide" Target="/ppt/notesSlides/notesSlide1.xml" Id="Re1bb816403ce45b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2b009035eb44d3" /><Relationship Type="http://schemas.openxmlformats.org/officeDocument/2006/relationships/notesSlide" Target="/ppt/notesSlides/notesSlide2.xml" Id="Rf32f368cc23c44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baada185c84f14" /><Relationship Type="http://schemas.openxmlformats.org/officeDocument/2006/relationships/notesSlide" Target="/ppt/notesSlides/notesSlide3.xml" Id="Rb23a105ddfe54a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9041971073462a" /><Relationship Type="http://schemas.openxmlformats.org/officeDocument/2006/relationships/notesSlide" Target="/ppt/notesSlides/notesSlide4.xml" Id="R3ce8d93eae534b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24cbc049b14332" /><Relationship Type="http://schemas.openxmlformats.org/officeDocument/2006/relationships/notesSlide" Target="/ppt/notesSlides/notesSlide5.xml" Id="Rac11f2b9440447a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e47b427854ecb" /><Relationship Type="http://schemas.openxmlformats.org/officeDocument/2006/relationships/image" Target="/ppt/media/image2.jpeg" Id="Rab130a3324344e4b" /><Relationship Type="http://schemas.openxmlformats.org/officeDocument/2006/relationships/notesSlide" Target="/ppt/notesSlides/notesSlide6.xml" Id="R57e961f69995446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a0e72acb564547" /><Relationship Type="http://schemas.openxmlformats.org/officeDocument/2006/relationships/image" Target="/ppt/media/image3.jpeg" Id="R89b1efb6ed594c04" /><Relationship Type="http://schemas.openxmlformats.org/officeDocument/2006/relationships/notesSlide" Target="/ppt/notesSlides/notesSlide7.xml" Id="R91e1f171188446a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83dfe424f646a8" /><Relationship Type="http://schemas.openxmlformats.org/officeDocument/2006/relationships/notesSlide" Target="/ppt/notesSlides/notesSlide8.xml" Id="R69e692bdec02459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eb43aa7e2d4a46" /><Relationship Type="http://schemas.openxmlformats.org/officeDocument/2006/relationships/notesSlide" Target="/ppt/notesSlides/notesSlide9.xml" Id="Ra57cda07173d445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90d20809549c2" /><Relationship Type="http://schemas.openxmlformats.org/officeDocument/2006/relationships/notesSlide" Target="/ppt/notesSlides/notesSlide10.xml" Id="R458580c1a01e47e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2cd8369f6948b0" /><Relationship Type="http://schemas.openxmlformats.org/officeDocument/2006/relationships/notesSlide" Target="/ppt/notesSlides/notesSlide11.xml" Id="Re879f19ada8b46f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8d9210c9d14b20"/>
          <a:srcRect xmlns:a="http://schemas.openxmlformats.org/drawingml/2006/main" l="23166" t="0" r="2316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191250" y="514350"/>
            <a:ext cx="5543550" cy="58102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904710-5DAA-42D4-B812-58496100A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14350"/>
            <a:ext cx="5543550" cy="5810250"/>
          </a:xfrm>
          <a:prstGeom xmlns:a="http://schemas.openxmlformats.org/drawingml/2006/main" prst="roundRect">
            <a:avLst>
              <a:gd name="adj" fmla="val 13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399995-6925-4F0D-9E7A-1134BDBF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1143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6043"/>
          </a:solidFill>
          <a:ln xmlns:a="http://schemas.openxmlformats.org/drawingml/2006/main" w="0">
            <a:solidFill>
              <a:srgbClr val="B7604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2E820B-B058-47C4-BFA3-90825EA3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4095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AI SIGNALS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80E6E5-5132-4E25-A29B-C753C2B2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523875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뉴스가 끝난 뒤,
기대는 어떻게 달라졌을까?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8D334B-E444-40DC-8BEE-1228573C0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95750"/>
            <a:ext cx="4953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공개 예측시장 데이터로 글로벌 이슈의
기대 변화 흐름을 읽는 모니터링 대시보드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B76E46-AC4D-4169-942E-1DCF5C48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0"/>
            <a:ext cx="3905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0">
            <a:solidFill>
              <a:srgbClr val="DDE6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0D94A4-40A9-496C-B1F1-739FC91B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3676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PUBLIC DATA · TIME SERIES · CAUTION</a:t>
            </a:r>
          </a:p>
        </p:txBody>
      </p:sp>
    </p:spTree>
    <p:extLst>
      <p:ext uri="{BB962C8B-B14F-4D97-AF65-F5344CB8AC3E}">
        <p14:creationId xmlns:p14="http://schemas.microsoft.com/office/powerpoint/2010/main" val="2863887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F3567D-01C5-4051-BEB9-3C08F4906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AI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9815D4-402E-4DB5-8094-192AEF5E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이슈는 넘치지만, 변화의 강도는 한눈에 보이지 않습니다</a:t>
            </a:r>
          </a:p>
        </p:txBody>
      </p:sp>
      <p:cxnSp>
        <p:nvCxnSpPr>
          <p:cNvPr id="26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B11D77-7615-4D98-AD98-88AC9E5C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08ECEC-74B4-4387-B7AB-97B7117E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3143250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D0D5D6-0886-4578-9C8D-200E1146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2667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뉴스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FC4E59-C6F9-4B75-9525-4F631C4E7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26670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무슨 일이 있었는지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BAF378-589F-49EB-84ED-65A44E2A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6670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사건을 빠르게 전달하지만
기대의 변화량은 직접 연결해야 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41B91C-80A7-48FC-9E7E-52DAF322B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809750"/>
            <a:ext cx="3143250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AC82A-F08E-4399-8352-648DAC62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57400"/>
            <a:ext cx="2667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소셜 피드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22E920-AFBA-43EE-989C-6BD4B8B4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86050"/>
            <a:ext cx="26670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반응은 빠르지만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93395A-E043-4B78-9EF2-FCC97FD8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333750"/>
            <a:ext cx="26670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서로 다른 관점과 잡음이 섞여
변화의 방향을 분리하기 어렵습니다.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908595-A0F9-4D23-B68F-E607BD3E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09750"/>
            <a:ext cx="3143250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7969BB-4B88-454D-A055-CC5C9F49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57400"/>
            <a:ext cx="2667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전문 보고서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164858-8C40-4265-A1B3-116C2617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686050"/>
            <a:ext cx="26670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깊이는 있지만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CF2CBA-9DBD-479A-9BDD-12DD2EFA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33750"/>
            <a:ext cx="26670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분석에 시간이 필요해
매일의 변화를 따라가기 어렵습니다.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EDA2A3-310E-4320-95ED-AF5F1B79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48250"/>
            <a:ext cx="99060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사용자는 결국 세 정보를 직접 연결해 ‘무엇이, 언제, 얼마나 달라졌는지’를 판단해야 합니다.</a:t>
            </a:r>
          </a:p>
        </p:txBody>
      </p:sp>
    </p:spTree>
    <p:extLst>
      <p:ext uri="{BB962C8B-B14F-4D97-AF65-F5344CB8AC3E}">
        <p14:creationId xmlns:p14="http://schemas.microsoft.com/office/powerpoint/2010/main" val="15846394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FE9E6C-F377-46EB-89E4-86B9535B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AI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05E1C4-5B8E-4527-91B7-D4D6CCECF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공개 데이터에는 기대가 변한 흔적이 남습니다</a:t>
            </a:r>
          </a:p>
        </p:txBody>
      </p:sp>
      <p:cxnSp>
        <p:nvCxnSpPr>
          <p:cNvPr id="61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8D8BE1-742D-4C0D-B9A7-6569F42C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1FE9C7-E235-4AA1-AE92-3C8DFD630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323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사건 중심 정보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969751-2D41-431A-B76B-4FF14F33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2857500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정책 발표
공식 일정 변경
새로운 조사 결과
기관 발표</a:t>
            </a:r>
          </a:p>
        </p:txBody>
      </p:sp>
      <p:cxnSp>
        <p:nvCxnSpPr>
          <p:cNvPr id="65" name=""/>
          <p:cNvCxnSpPr/>
          <p:nvPr/>
        </p:nvCxnSpPr>
        <p:spPr>
          <a:xfrm xmlns:a="http://schemas.openxmlformats.org/drawingml/2006/main">
            <a:off x="4095750" y="3200400"/>
            <a:ext cx="14097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76043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C49154-1DDB-40F4-B921-171EBEDE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076575"/>
            <a:ext cx="1714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B76043"/>
          </a:solidFill>
          <a:ln xmlns:a="http://schemas.openxmlformats.org/drawingml/2006/main" w="0">
            <a:solidFill>
              <a:srgbClr val="B760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C6613D-9E0B-4CE1-8103-EA3FF80EA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38300"/>
            <a:ext cx="4000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시간에 따른 변화</a:t>
            </a:r>
          </a:p>
        </p:txBody>
      </p:sp>
      <p:cxnSp>
        <p:nvCxnSpPr>
          <p:cNvPr id="68" name=""/>
          <p:cNvCxnSpPr/>
          <p:nvPr/>
        </p:nvCxnSpPr>
        <p:spPr>
          <a:xfrm xmlns:a="http://schemas.openxmlformats.org/drawingml/2006/main">
            <a:off x="6610350" y="4705350"/>
            <a:ext cx="428625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cxnSp>
        <p:nvCxnSpPr>
          <p:cNvPr id="69" name=""/>
          <p:cNvCxnSpPr/>
          <p:nvPr/>
        </p:nvCxnSpPr>
        <p:spPr>
          <a:xfrm xmlns:a="http://schemas.openxmlformats.org/drawingml/2006/main">
            <a:off x="6610350" y="2343150"/>
            <a:ext cx="286" cy="236220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cxnSp>
        <p:nvCxnSpPr>
          <p:cNvPr id="70" name=""/>
          <p:cNvCxnSpPr/>
          <p:nvPr/>
        </p:nvCxnSpPr>
        <p:spPr>
          <a:xfrm xmlns:a="http://schemas.openxmlformats.org/drawingml/2006/main">
            <a:off x="6724650" y="4171950"/>
            <a:ext cx="904875" cy="286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71" name=""/>
          <p:cNvCxnSpPr/>
          <p:nvPr/>
        </p:nvCxnSpPr>
        <p:spPr>
          <a:xfrm xmlns:a="http://schemas.openxmlformats.org/drawingml/2006/main">
            <a:off x="7629525" y="3448050"/>
            <a:ext cx="286" cy="7239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72" name=""/>
          <p:cNvCxnSpPr/>
          <p:nvPr/>
        </p:nvCxnSpPr>
        <p:spPr>
          <a:xfrm xmlns:a="http://schemas.openxmlformats.org/drawingml/2006/main">
            <a:off x="7629525" y="3448050"/>
            <a:ext cx="1028700" cy="286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73" name=""/>
          <p:cNvCxnSpPr/>
          <p:nvPr/>
        </p:nvCxnSpPr>
        <p:spPr>
          <a:xfrm xmlns:a="http://schemas.openxmlformats.org/drawingml/2006/main">
            <a:off x="8658225" y="3048000"/>
            <a:ext cx="286" cy="40005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74" name=""/>
          <p:cNvCxnSpPr/>
          <p:nvPr/>
        </p:nvCxnSpPr>
        <p:spPr>
          <a:xfrm xmlns:a="http://schemas.openxmlformats.org/drawingml/2006/main">
            <a:off x="8658225" y="3048000"/>
            <a:ext cx="990600" cy="286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75" name=""/>
          <p:cNvCxnSpPr/>
          <p:nvPr/>
        </p:nvCxnSpPr>
        <p:spPr>
          <a:xfrm xmlns:a="http://schemas.openxmlformats.org/drawingml/2006/main">
            <a:off x="9648825" y="2571750"/>
            <a:ext cx="286" cy="47625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cxnSp>
        <p:nvCxnSpPr>
          <p:cNvPr id="76" name=""/>
          <p:cNvCxnSpPr/>
          <p:nvPr/>
        </p:nvCxnSpPr>
        <p:spPr>
          <a:xfrm xmlns:a="http://schemas.openxmlformats.org/drawingml/2006/main">
            <a:off x="9648825" y="2571750"/>
            <a:ext cx="1047750" cy="286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76043"/>
            </a:solidFill>
            <a:prstDash val="soli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057289-7729-4D7E-93D6-7D0F4C71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2486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6043"/>
          </a:solidFill>
          <a:ln xmlns:a="http://schemas.openxmlformats.org/drawingml/2006/main" w="0">
            <a:solidFill>
              <a:srgbClr val="B7604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577A40-9A48-40DB-8C39-B70EE423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048250"/>
            <a:ext cx="1714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24h  +8%p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848283-72C9-49D4-A6BB-3EA8D74C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048250"/>
            <a:ext cx="1714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7d  +13%p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BD7813-B12F-4C3A-81E8-E89E2647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905500"/>
            <a:ext cx="67437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단일 숫자가 아니라 ‘재평가의 흐름’을 읽습니다.</a:t>
            </a:r>
          </a:p>
        </p:txBody>
      </p:sp>
    </p:spTree>
    <p:extLst>
      <p:ext uri="{BB962C8B-B14F-4D97-AF65-F5344CB8AC3E}">
        <p14:creationId xmlns:p14="http://schemas.microsoft.com/office/powerpoint/2010/main" val="8322544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DE2DC7-CE0C-4E1E-A81E-B277E214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AI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4E69DF-2485-4EBB-BA10-D145BE46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10초 안에 변화를 발견하고, 한 이슈를 끝까지 확인합니다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BB0270-F87D-4F31-8423-CC830165D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04</a:t>
            </a:r>
          </a:p>
        </p:txBody>
      </p:sp>
      <p:cxnSp>
        <p:nvCxnSpPr>
          <p:cNvPr id="42" name=""/>
          <p:cNvCxnSpPr/>
          <p:nvPr/>
        </p:nvCxnSpPr>
        <p:spPr>
          <a:xfrm xmlns:a="http://schemas.openxmlformats.org/drawingml/2006/main">
            <a:off x="2438400" y="3067050"/>
            <a:ext cx="11811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43" name=""/>
          <p:cNvCxnSpPr/>
          <p:nvPr/>
        </p:nvCxnSpPr>
        <p:spPr>
          <a:xfrm xmlns:a="http://schemas.openxmlformats.org/drawingml/2006/main">
            <a:off x="5276850" y="3067050"/>
            <a:ext cx="11811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44" name=""/>
          <p:cNvCxnSpPr/>
          <p:nvPr/>
        </p:nvCxnSpPr>
        <p:spPr>
          <a:xfrm xmlns:a="http://schemas.openxmlformats.org/drawingml/2006/main">
            <a:off x="8115300" y="3067050"/>
            <a:ext cx="118110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710523-71BA-443F-A7C9-FBAAC672C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71462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6043"/>
          </a:solidFill>
          <a:ln xmlns:a="http://schemas.openxmlformats.org/drawingml/2006/main" w="0">
            <a:solidFill>
              <a:srgbClr val="B760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B8DD13-B131-42DC-998B-E4A96B77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2886075"/>
            <a:ext cx="438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FC6739-5DD2-4DB2-9D72-568FD852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2514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이슈 발견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FB47CA-7A88-43C5-814A-675899DF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25146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24h·7d 변화가 큰
이슈를 먼저 탐색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11F203-19C0-444A-A64F-E9939E2D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71462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2621"/>
          </a:solidFill>
          <a:ln xmlns:a="http://schemas.openxmlformats.org/drawingml/2006/main" w="0">
            <a:solidFill>
              <a:srgbClr val="29262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70AB82-C445-4100-BB83-1E941575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2886075"/>
            <a:ext cx="438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8A0E0C-AE22-44EA-9581-F6F4DDC9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52850"/>
            <a:ext cx="2514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변화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2C4D77-C4A7-4846-91EA-D7E916C1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324350"/>
            <a:ext cx="25146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차트와 변곡 구간으로
방향과 크기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5738AD-40C7-4B97-8895-0FACDEBA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1462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2621"/>
          </a:solidFill>
          <a:ln xmlns:a="http://schemas.openxmlformats.org/drawingml/2006/main" w="0">
            <a:solidFill>
              <a:srgbClr val="29262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262D2C-D954-434B-9876-AEF29284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886075"/>
            <a:ext cx="438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AA6409-B4F9-4553-B83E-7AE9561D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52850"/>
            <a:ext cx="2514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근거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DC0912-23DA-42E0-8F6F-A09300FF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24350"/>
            <a:ext cx="25146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브리핑과 공개 출처로
현재 확인 가능한 내용 점검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9E10A7-68F3-406D-8592-89AB28FA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714625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2621"/>
          </a:solidFill>
          <a:ln xmlns:a="http://schemas.openxmlformats.org/drawingml/2006/main" w="0">
            <a:solidFill>
              <a:srgbClr val="29262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798744-2284-435A-BA80-7B355E1F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2886075"/>
            <a:ext cx="438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53D837-7530-4D32-A462-35A96471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752850"/>
            <a:ext cx="2514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신중한 해석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B60407-48B4-4033-806D-CE59030D4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24350"/>
            <a:ext cx="25146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기준 시각과 주의사항으로
데이터의 한계까지 확인</a:t>
            </a:r>
          </a:p>
        </p:txBody>
      </p:sp>
    </p:spTree>
    <p:extLst>
      <p:ext uri="{BB962C8B-B14F-4D97-AF65-F5344CB8AC3E}">
        <p14:creationId xmlns:p14="http://schemas.microsoft.com/office/powerpoint/2010/main" val="20325458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1367E3-E305-4222-B117-ED3498FDE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AI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14D205-8BE7-42B0-B540-D57DC375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홈은 오늘 가장 크게 변한 이슈부터 보여줍니다</a:t>
            </a:r>
          </a:p>
        </p:txBody>
      </p:sp>
      <p:cxnSp>
        <p:nvCxnSpPr>
          <p:cNvPr id="83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6F7B55-374E-4F8D-B4A2-A934883A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569A94-4516-4BEA-9B30-936424DD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62100"/>
            <a:ext cx="7677150" cy="4400550"/>
          </a:xfrm>
          <a:prstGeom xmlns:a="http://schemas.openxmlformats.org/drawingml/2006/main" prst="roundRect">
            <a:avLst>
              <a:gd name="adj" fmla="val 17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939371-854E-4D52-8A30-BBEB8F0A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4000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오늘의 변화가 큰 이슈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6A6962-2A4A-4A2C-A579-DEF15596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857375"/>
            <a:ext cx="2476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데이터 기준 2026.07.13 09:00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DE3A5F-4852-4E82-B012-5C382A82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9144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0">
            <a:solidFill>
              <a:srgbClr val="F1DDD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874826-7742-4585-BB9C-CD82A345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9825"/>
            <a:ext cx="685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24시간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9E90ED-9465-450F-A6D2-AC709717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343150"/>
            <a:ext cx="723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0">
            <a:solidFill>
              <a:srgbClr val="F0ECE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B2C921-39C5-48C2-9B13-5180D7DBB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409825"/>
            <a:ext cx="495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7일</a:t>
            </a:r>
          </a:p>
        </p:txBody>
      </p:sp>
      <p:cxnSp>
        <p:nvCxnSpPr>
          <p:cNvPr id="92" name=""/>
          <p:cNvCxnSpPr/>
          <p:nvPr/>
        </p:nvCxnSpPr>
        <p:spPr>
          <a:xfrm xmlns:a="http://schemas.openxmlformats.org/drawingml/2006/main">
            <a:off x="781050" y="2819400"/>
            <a:ext cx="70104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274F4B-DC11-4F1E-B2D3-C146DB08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글로벌 정책 일정 이슈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8E784C-FFC9-4163-9C06-C0AB85B1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95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정책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E2DD6A-94F4-4944-9F78-3592A84B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000375"/>
            <a:ext cx="952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21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63%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52A496-00AA-4864-90DC-8A1DA01B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028950"/>
            <a:ext cx="8763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725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+8%p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57CA0B-A38B-4AE2-B397-FCA3481C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67050"/>
            <a:ext cx="1009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충분한 데이터</a:t>
            </a:r>
          </a:p>
        </p:txBody>
      </p:sp>
      <p:cxnSp>
        <p:nvCxnSpPr>
          <p:cNvPr id="98" name=""/>
          <p:cNvCxnSpPr/>
          <p:nvPr/>
        </p:nvCxnSpPr>
        <p:spPr>
          <a:xfrm xmlns:a="http://schemas.openxmlformats.org/drawingml/2006/main">
            <a:off x="781050" y="3733800"/>
            <a:ext cx="70104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39C18A-8346-4744-A873-97B126A6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0525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기술 규제 검토 이슈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A3E659-5531-4F34-A6D2-48649F0E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95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기술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69084E-64E9-431C-8631-14D898CE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14775"/>
            <a:ext cx="952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21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41%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B98CE6-EC77-4368-9229-BFEEB10E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943350"/>
            <a:ext cx="8763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725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-6%p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C251E8-17B0-4328-9549-1BFF2E40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81450"/>
            <a:ext cx="1009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해석 주의</a:t>
            </a:r>
          </a:p>
        </p:txBody>
      </p:sp>
      <p:cxnSp>
        <p:nvCxnSpPr>
          <p:cNvPr id="104" name=""/>
          <p:cNvCxnSpPr/>
          <p:nvPr/>
        </p:nvCxnSpPr>
        <p:spPr>
          <a:xfrm xmlns:a="http://schemas.openxmlformats.org/drawingml/2006/main">
            <a:off x="781050" y="4648200"/>
            <a:ext cx="70104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CA4C71-5B63-4D35-81E5-815CA7D2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1965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국제 협상 진행 이슈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85FB56-A4DF-4476-B3C0-81A77F4D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62550"/>
            <a:ext cx="95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외교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843BC5-94A9-44C6-A3A6-59CE434B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29175"/>
            <a:ext cx="952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21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72%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716611-6259-4588-8D98-25DA300E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857750"/>
            <a:ext cx="8763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725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+5%p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4CC925-F6C8-4BC9-84A7-3B0A188C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895850"/>
            <a:ext cx="1009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데이터 제한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8FE5AC-4CBB-40D5-A4FE-3D4A7A42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52600"/>
            <a:ext cx="2952750" cy="358140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0">
            <a:solidFill>
              <a:srgbClr val="F0ECE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422024-7583-4F61-9610-25D01163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57400"/>
            <a:ext cx="23812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첫 화면에서 함께 보이는 것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C5C8DF-BC4D-44C5-8B2A-4A4899FD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9900"/>
            <a:ext cx="228600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01  현재 반영 기대값
02  24시간·7일 관측 변화
03  해석 주의 상태
04  데이터 기준 시각</a:t>
            </a:r>
          </a:p>
        </p:txBody>
      </p:sp>
    </p:spTree>
    <p:extLst>
      <p:ext uri="{BB962C8B-B14F-4D97-AF65-F5344CB8AC3E}">
        <p14:creationId xmlns:p14="http://schemas.microsoft.com/office/powerpoint/2010/main" val="14171315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1AFA01-B502-4444-85C1-7A98E593A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AI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ED1F39-E328-415F-BFF2-7E02819F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상세 화면은 숫자보다 변화의 흐름을 보여줍니다</a:t>
            </a:r>
          </a:p>
        </p:txBody>
      </p:sp>
      <p:cxnSp>
        <p:nvCxnSpPr>
          <p:cNvPr id="38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01B0A1-79EA-4129-8696-BC527183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06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130a3324344e4b"/>
          <a:stretch xmlns:a="http://schemas.openxmlformats.org/drawingml/2006/main"/>
        </p:blipFill>
        <p:spPr>
          <a:xfrm xmlns:a="http://schemas.openxmlformats.org/drawingml/2006/main" flipH="0" flipV="0">
            <a:off x="495300" y="1669256"/>
            <a:ext cx="7239000" cy="4071938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05F790-0BF2-4DC3-B1FF-9E577B29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62100"/>
            <a:ext cx="7239000" cy="4286250"/>
          </a:xfrm>
          <a:prstGeom xmlns:a="http://schemas.openxmlformats.org/drawingml/2006/main" prst="roundRect">
            <a:avLst>
              <a:gd name="adj" fmla="val 177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F6A07C-2BC5-4EE7-94EC-F53691D8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33550"/>
            <a:ext cx="2762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한 화면에서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130624-3DCB-467B-AD91-870266116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1935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현재 반영 기대값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D90842-194C-4CDC-A538-C33FEDEA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24150"/>
            <a:ext cx="2762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63%</a:t>
            </a:r>
          </a:p>
        </p:txBody>
      </p:sp>
      <p:cxnSp>
        <p:nvCxnSpPr>
          <p:cNvPr id="45" name=""/>
          <p:cNvCxnSpPr/>
          <p:nvPr/>
        </p:nvCxnSpPr>
        <p:spPr>
          <a:xfrm xmlns:a="http://schemas.openxmlformats.org/drawingml/2006/main">
            <a:off x="8286750" y="3600450"/>
            <a:ext cx="28575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E2F005-732F-4E0B-B8AE-044ADD345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05250"/>
            <a:ext cx="1428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24h  +8%p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54BC81-B9E3-442E-A290-69D8622E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905250"/>
            <a:ext cx="1428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7d  +13%p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3E615B-2D74-4B56-A541-B0FD6429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10100"/>
            <a:ext cx="29527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• 기간별 선형 차트
• 큰 변화 구간 표시
• 공개 자료와 출처
• 해석 주의 및 기준 시각</a:t>
            </a:r>
          </a:p>
        </p:txBody>
      </p:sp>
    </p:spTree>
    <p:extLst>
      <p:ext uri="{BB962C8B-B14F-4D97-AF65-F5344CB8AC3E}">
        <p14:creationId xmlns:p14="http://schemas.microsoft.com/office/powerpoint/2010/main" val="9918474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CB9EC8-43A5-4B6A-9190-D2A2F029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AI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23A92A-4535-44F3-B647-B9D82631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AI 브리핑은 검증된 내용부터 단계적으로 공개됩니다</a:t>
            </a:r>
          </a:p>
        </p:txBody>
      </p:sp>
      <p:cxnSp>
        <p:nvCxnSpPr>
          <p:cNvPr id="87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BD2E71-94D0-4E5F-9201-A2BD63278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07</a:t>
            </a:r>
          </a:p>
        </p:txBody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b1efb6ed594c04"/>
          <a:srcRect xmlns:a="http://schemas.openxmlformats.org/drawingml/2006/main" l="18378" t="0" r="1837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543800" y="1752600"/>
            <a:ext cx="3962400" cy="3524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DEF59-8F42-48FF-89F2-36E94E2DD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752600"/>
            <a:ext cx="3962400" cy="3524250"/>
          </a:xfrm>
          <a:prstGeom xmlns:a="http://schemas.openxmlformats.org/drawingml/2006/main" prst="roundRect">
            <a:avLst>
              <a:gd name="adj" fmla="val 2162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cxnSp>
        <p:nvCxnSpPr>
          <p:cNvPr id="91" name=""/>
          <p:cNvCxnSpPr/>
          <p:nvPr/>
        </p:nvCxnSpPr>
        <p:spPr>
          <a:xfrm xmlns:a="http://schemas.openxmlformats.org/drawingml/2006/main">
            <a:off x="1924050" y="3219450"/>
            <a:ext cx="36195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cxnSp>
        <p:nvCxnSpPr>
          <p:cNvPr id="92" name=""/>
          <p:cNvCxnSpPr/>
          <p:nvPr/>
        </p:nvCxnSpPr>
        <p:spPr>
          <a:xfrm xmlns:a="http://schemas.openxmlformats.org/drawingml/2006/main">
            <a:off x="3695700" y="3219450"/>
            <a:ext cx="36195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cxnSp>
        <p:nvCxnSpPr>
          <p:cNvPr id="93" name=""/>
          <p:cNvCxnSpPr/>
          <p:nvPr/>
        </p:nvCxnSpPr>
        <p:spPr>
          <a:xfrm xmlns:a="http://schemas.openxmlformats.org/drawingml/2006/main">
            <a:off x="5467350" y="3219450"/>
            <a:ext cx="36195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B93C0D-AF62-4F91-A2A0-FD378461A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05050"/>
            <a:ext cx="1409700" cy="20383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FF3FA7-0850-4705-81D7-3A18D3CD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38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813AB1-079C-4A83-A990-8F09A33EE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1104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고정 근거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1B5E18-D204-48D0-891F-CDFC3DC1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11049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이슈 정의
관측 수치
공개 출처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2AE5C8-55B2-45EF-A94D-BD7D94CFC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305050"/>
            <a:ext cx="1409700" cy="20383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BD091E-1F0D-46DA-8684-A811DAFF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76500"/>
            <a:ext cx="38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4ADF75-F443-4B8B-9018-7492642D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895600"/>
            <a:ext cx="1104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AI 작성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085F16-F448-4779-B6EF-FB5A00A4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429000"/>
            <a:ext cx="11049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한 번의
생성 요청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563CE9-6DA0-4D00-A187-70D2C780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305050"/>
            <a:ext cx="1409700" cy="20383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ADCD92-E8B8-4A77-8EA3-51112CF6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476500"/>
            <a:ext cx="38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3C74AC-B9BD-43A2-B937-43416D5A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895600"/>
            <a:ext cx="1104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문단 검증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837443-7374-4D58-8940-486326F8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29000"/>
            <a:ext cx="11049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수치·출처
표현·순서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E7D9D2-D6D3-4D49-872E-BC83A59E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305050"/>
            <a:ext cx="1409700" cy="20383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57FB5F-DB6F-4799-B69D-D5CD6615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38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2C41DC-06CF-44E3-BE91-D2BFB722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895600"/>
            <a:ext cx="1104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화면 공개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5C550F-51C0-4FB8-BE3C-5F84A80F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429000"/>
            <a:ext cx="11049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완료된 블록
순차 표시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58995D-41F8-4EEA-BFD1-1A9515BBE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검증 실패</a:t>
            </a:r>
          </a:p>
        </p:txBody>
      </p:sp>
      <p:cxnSp>
        <p:nvCxnSpPr>
          <p:cNvPr id="111" name=""/>
          <p:cNvCxnSpPr/>
          <p:nvPr/>
        </p:nvCxnSpPr>
        <p:spPr>
          <a:xfrm xmlns:a="http://schemas.openxmlformats.org/drawingml/2006/main">
            <a:off x="4724400" y="4343400"/>
            <a:ext cx="286" cy="4000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76043"/>
            </a:solidFill>
            <a:prstDash val="soli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9D381A-43A7-4F4B-AC7F-D20C5D77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35305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현재 시도는 공개하지 않고, 이전 정상 브리핑을 유지합니다.</a:t>
            </a:r>
          </a:p>
        </p:txBody>
      </p:sp>
    </p:spTree>
    <p:extLst>
      <p:ext uri="{BB962C8B-B14F-4D97-AF65-F5344CB8AC3E}">
        <p14:creationId xmlns:p14="http://schemas.microsoft.com/office/powerpoint/2010/main" val="2011970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571D91-7E3F-4812-B6FC-86D71455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AI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046942-D529-48D1-A528-95423D2B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안전장치는 안내 문구가 아니라 제품 구조입니다</a:t>
            </a:r>
          </a:p>
        </p:txBody>
      </p:sp>
      <p:cxnSp>
        <p:nvCxnSpPr>
          <p:cNvPr id="26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998A69-2F20-4456-9098-76CF8612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5DF820-2DF5-4503-BBAE-47651637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6858000" cy="3943350"/>
          </a:xfrm>
          <a:prstGeom xmlns:a="http://schemas.openxmlformats.org/drawingml/2006/main" prst="roundRect">
            <a:avLst>
              <a:gd name="adj" fmla="val 1932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BABDA-8F1B-43F6-ABCB-89A724306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66950"/>
            <a:ext cx="5562600" cy="299085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9525">
            <a:solidFill>
              <a:srgbClr val="667E9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2C40A7-0D83-4863-A5DE-056AFC36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724150"/>
            <a:ext cx="42291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9525">
            <a:solidFill>
              <a:srgbClr val="B760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194477-A09F-4C55-AA90-BD0EDDB6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19450"/>
            <a:ext cx="2667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292621"/>
          </a:solidFill>
          <a:ln xmlns:a="http://schemas.openxmlformats.org/drawingml/2006/main" w="0">
            <a:solidFill>
              <a:srgbClr val="29262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006E30-855B-4CCA-B6F4-2267D279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812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화면 표시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0E9FE3-E2D3-4A7A-A6A8-2BD37EC4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5745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출력 검증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5C8017-2C9B-4FFC-A180-84E71E72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1465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근거 제한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FFA7DE-7883-4FED-AF32-7A348C67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62350"/>
            <a:ext cx="2095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집계 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758377-CDBB-46ED-B465-666F03270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962150"/>
            <a:ext cx="3200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모든 수치에 기준 시각과 주의사항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856826-A383-4DF9-B13F-09A6CA44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00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수치·출처·표현을 동일한 규칙으로 재검증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C8885C-55FF-4D15-A451-FB8859C4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52850"/>
            <a:ext cx="3200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AI가 사용할 수 있는 자료를 사전에 고정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B9D754-8E3D-4F1C-A3C8-41B6A924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48200"/>
            <a:ext cx="32004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개인 단위 탐색 없이 시장·이슈 단위로만 제공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1CB41C-70FF-4AC4-9162-417A7708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000750"/>
            <a:ext cx="7429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결과 단정 없음  ·  임의 관계 연결 없음  ·  개인 식별 없음</a:t>
            </a:r>
          </a:p>
        </p:txBody>
      </p:sp>
    </p:spTree>
    <p:extLst>
      <p:ext uri="{BB962C8B-B14F-4D97-AF65-F5344CB8AC3E}">
        <p14:creationId xmlns:p14="http://schemas.microsoft.com/office/powerpoint/2010/main" val="9404600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1F27B1-8517-41D9-946E-C70B6078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AI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41F881-E56A-4796-A3C1-53EFB851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수집과 생성 경로를 분리해 안정적으로 동작합니다</a:t>
            </a:r>
          </a:p>
        </p:txBody>
      </p:sp>
      <p:cxnSp>
        <p:nvCxnSpPr>
          <p:cNvPr id="47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9289A8-E707-4752-A185-87ED42BD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09</a:t>
            </a:r>
          </a:p>
        </p:txBody>
      </p:sp>
      <p:cxnSp>
        <p:nvCxnSpPr>
          <p:cNvPr id="49" name=""/>
          <p:cNvCxnSpPr/>
          <p:nvPr/>
        </p:nvCxnSpPr>
        <p:spPr>
          <a:xfrm xmlns:a="http://schemas.openxmlformats.org/drawingml/2006/main">
            <a:off x="2114550" y="2895600"/>
            <a:ext cx="7810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50" name=""/>
          <p:cNvCxnSpPr/>
          <p:nvPr/>
        </p:nvCxnSpPr>
        <p:spPr>
          <a:xfrm xmlns:a="http://schemas.openxmlformats.org/drawingml/2006/main">
            <a:off x="4533900" y="2895600"/>
            <a:ext cx="8191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51" name=""/>
          <p:cNvCxnSpPr/>
          <p:nvPr/>
        </p:nvCxnSpPr>
        <p:spPr>
          <a:xfrm xmlns:a="http://schemas.openxmlformats.org/drawingml/2006/main">
            <a:off x="7010400" y="2895600"/>
            <a:ext cx="7810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52" name=""/>
          <p:cNvCxnSpPr/>
          <p:nvPr/>
        </p:nvCxnSpPr>
        <p:spPr>
          <a:xfrm xmlns:a="http://schemas.openxmlformats.org/drawingml/2006/main">
            <a:off x="9467850" y="2895600"/>
            <a:ext cx="7048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C2B8"/>
            </a:solidFill>
            <a:prstDash val="solid"/>
          </a:ln>
        </p:spPr>
      </p:cxnSp>
      <p:cxnSp>
        <p:nvCxnSpPr>
          <p:cNvPr id="53" name=""/>
          <p:cNvCxnSpPr/>
          <p:nvPr/>
        </p:nvCxnSpPr>
        <p:spPr>
          <a:xfrm xmlns:a="http://schemas.openxmlformats.org/drawingml/2006/main">
            <a:off x="6191250" y="3943350"/>
            <a:ext cx="286" cy="7048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76043"/>
            </a:solidFill>
            <a:prstDash val="solid"/>
          </a:ln>
        </p:spPr>
      </p:cxnSp>
      <p:cxnSp>
        <p:nvCxnSpPr>
          <p:cNvPr id="54" name=""/>
          <p:cNvCxnSpPr/>
          <p:nvPr/>
        </p:nvCxnSpPr>
        <p:spPr>
          <a:xfrm xmlns:a="http://schemas.openxmlformats.org/drawingml/2006/main">
            <a:off x="6191250" y="4648200"/>
            <a:ext cx="3257550" cy="28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76043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BF7031-2E2F-4E98-ADC4-3BE3AF46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16002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B300B9-14DC-48C2-9E57-07E55E63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90750"/>
            <a:ext cx="16383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D7DCAF-6B5B-44C7-A8A6-04B327B9D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90750"/>
            <a:ext cx="16573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9525">
            <a:solidFill>
              <a:srgbClr val="667E9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CA1167-F60B-497E-B235-03D7C8FE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190750"/>
            <a:ext cx="16764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34306B-4B0C-4A76-A0CF-A21D61B1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190750"/>
            <a:ext cx="15049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C13CE7-06AE-401D-A317-9BC15213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43400"/>
            <a:ext cx="16573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9525">
            <a:solidFill>
              <a:srgbClr val="B7604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6BB9E9-21FD-4065-BF68-4B30F9AD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9850"/>
            <a:ext cx="1143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공개 API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B9AC12-963F-42B6-8CDF-4E0049AB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14600"/>
            <a:ext cx="12192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46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4시간 주기
Python 수집기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CA50E6-5E5D-494A-AF2E-B96E1F5D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628900"/>
            <a:ext cx="1238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PostgreSQL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B0AA23-2500-4D74-9917-A924B501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28900"/>
            <a:ext cx="1162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FastAPI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146E58-5F4A-485D-8721-28E2AC1E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628900"/>
            <a:ext cx="1181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React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21AF34-815B-48F5-8394-FF40E92B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86300"/>
            <a:ext cx="1276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독립 AI 워커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CBC3FD-0DF6-426F-A69A-9C7E0555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695450"/>
            <a:ext cx="4095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일반 조회 경로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1B2A52-E530-49A7-B0CE-2425A4A7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848350"/>
            <a:ext cx="2667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사용자 요청이 있을 때만 생성</a:t>
            </a:r>
          </a:p>
        </p:txBody>
      </p:sp>
    </p:spTree>
    <p:extLst>
      <p:ext uri="{BB962C8B-B14F-4D97-AF65-F5344CB8AC3E}">
        <p14:creationId xmlns:p14="http://schemas.microsoft.com/office/powerpoint/2010/main" val="2450983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FB8693-39BB-4565-8A49-911F090B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3333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AI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B1AF51-4857-44BD-9A7A-C9FD46DA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11049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작동하는 화면뿐 아니라, 실패 방식까지 검증했습니다</a:t>
            </a:r>
          </a:p>
        </p:txBody>
      </p:sp>
      <p:cxnSp>
        <p:nvCxnSpPr>
          <p:cNvPr id="27" name=""/>
          <p:cNvCxnSpPr/>
          <p:nvPr/>
        </p:nvCxnSpPr>
        <p:spPr>
          <a:xfrm xmlns:a="http://schemas.openxmlformats.org/drawingml/2006/main">
            <a:off x="457200" y="1257300"/>
            <a:ext cx="11049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2B8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5566E4-7902-4FCB-B887-1BA0F411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63ADED-E625-4B25-91D3-E98E9848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10668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브리핑 생성 실패, 연결 중단, 데이터 부족 상태를 숨기지 않고 안전하게 복구합니다.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72AEB2-2CEE-4B71-9A2F-D35AC2EF3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33337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1DDD3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1B388C-4CCC-468E-AE60-C5005B66A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76550"/>
            <a:ext cx="287655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546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779FF8-C6FB-4BD7-B58C-21E88D33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62400"/>
            <a:ext cx="28765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Backend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E2C087-4D3E-4C60-B684-42167D2D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28765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전체 회귀 테스트 통과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B3EE7B-D077-4FD6-A0BF-F587901C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609850"/>
            <a:ext cx="33337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DDE6EC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6A3020-6C00-40F6-A121-47DD3E5A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76550"/>
            <a:ext cx="287655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667E9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320px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695429-60F3-455C-8B50-AD314B27D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962400"/>
            <a:ext cx="28765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Responsive UI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477384-B94B-481A-B7AB-3F6D05DC7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52950"/>
            <a:ext cx="28765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좁은 화면까지 레이아웃 검증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5291F8-A695-47FB-B9B6-EBCC73E1B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09850"/>
            <a:ext cx="33337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0ECE4"/>
          </a:solidFill>
          <a:ln xmlns:a="http://schemas.openxmlformats.org/drawingml/2006/main" w="9525">
            <a:solidFill>
              <a:srgbClr val="C9C2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A00E67-7EEF-4073-A62E-8596C4DA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76550"/>
            <a:ext cx="287655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AC880F-0A99-40B8-AD0A-8FAD809DA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62400"/>
            <a:ext cx="28765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4211D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Frontend checks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184C1B-5175-4694-8547-D95AF39D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52950"/>
            <a:ext cx="28765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716B6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포맷·타입·린트·빌드 통과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4BCAA4-77F4-4D57-876F-68DCB22E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48350"/>
            <a:ext cx="933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B760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SSE 재생 · 폴링 대체 · 이전 정상 결과 유지 · 잘못된 수치/표현 차단</a:t>
            </a:r>
          </a:p>
        </p:txBody>
      </p:sp>
    </p:spTree>
    <p:extLst>
      <p:ext uri="{BB962C8B-B14F-4D97-AF65-F5344CB8AC3E}">
        <p14:creationId xmlns:p14="http://schemas.microsoft.com/office/powerpoint/2010/main" val="200799910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2926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5C484E-6844-4010-A67F-89F4C9D2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1DDD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OUTLOOK AI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EA537E-DC28-48D3-81C3-A9241353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57275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미래를 대신 판단하는 화면이 아니라,
기대가 변한 순간을 읽는 도구입니다.</a:t>
            </a:r>
          </a:p>
        </p:txBody>
      </p:sp>
      <p:cxnSp>
        <p:nvCxnSpPr>
          <p:cNvPr id="19" name=""/>
          <p:cNvCxnSpPr/>
          <p:nvPr/>
        </p:nvCxnSpPr>
        <p:spPr>
          <a:xfrm xmlns:a="http://schemas.openxmlformats.org/drawingml/2006/main">
            <a:off x="2324100" y="4210050"/>
            <a:ext cx="7543800" cy="286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16B63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DC0A5B-EE2D-495D-9D37-81E9D8BA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105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6043"/>
          </a:solidFill>
          <a:ln xmlns:a="http://schemas.openxmlformats.org/drawingml/2006/main" w="0">
            <a:solidFill>
              <a:srgbClr val="B7604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2A7E50-98B0-4666-9CB5-911CE5EE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05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54E7D9-496A-4058-84A8-793749788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105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7E95"/>
          </a:solidFill>
          <a:ln xmlns:a="http://schemas.openxmlformats.org/drawingml/2006/main" w="0">
            <a:solidFill>
              <a:srgbClr val="667E9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624F7F-6541-4F31-8561-1D181957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591050"/>
            <a:ext cx="1428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이슈 발견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319FFD-452D-41B0-9EB1-3D98B834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591050"/>
            <a:ext cx="1428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변화 이해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385D4C-5735-48F0-9A4E-732E8DF51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591050"/>
            <a:ext cx="1619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신중한 해석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1C63CE-AFFC-41DF-83A7-93A337C5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810250"/>
            <a:ext cx="70866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F1DDD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공개 데이터로 복잡한 글로벌 이슈의 변화 흐름을 읽습니다.</a:t>
            </a:r>
          </a:p>
        </p:txBody>
      </p:sp>
    </p:spTree>
    <p:extLst>
      <p:ext uri="{BB962C8B-B14F-4D97-AF65-F5344CB8AC3E}">
        <p14:creationId xmlns:p14="http://schemas.microsoft.com/office/powerpoint/2010/main" val="20498327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2026-07-13T06:44:17.2000000Z</dcterms:created>
  <dcterms:modified xsi:type="dcterms:W3CDTF">2026-07-13T06:44:17.2000000Z</dcterms:modified>
</coreProperties>
</file>