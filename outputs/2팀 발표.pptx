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7b457dd855481f" /><Relationship Type="http://schemas.openxmlformats.org/officeDocument/2006/relationships/extended-properties" Target="/docProps/app.xml" Id="Rc6abcd9fa06e43f9" /><Relationship Type="http://schemas.openxmlformats.org/officeDocument/2006/relationships/officeDocument" Target="/ppt/presentation.xml" Id="R18f74e9e1cfa4b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536048502d42cb"/>
  </p:sldMasterIdLst>
  <p:notesMasterIdLst>
    <p:notesMasterId xmlns:r="http://schemas.openxmlformats.org/officeDocument/2006/relationships" r:id="Re8209f55990c4f4a"/>
  </p:notesMasterIdLst>
  <p:sldIdLst>
    <p:sldId xmlns:r="http://schemas.openxmlformats.org/officeDocument/2006/relationships" id="256" r:id="R392d7438f7b74ba5"/>
    <p:sldId xmlns:r="http://schemas.openxmlformats.org/officeDocument/2006/relationships" id="257" r:id="R6f87c073bab449b6"/>
    <p:sldId xmlns:r="http://schemas.openxmlformats.org/officeDocument/2006/relationships" id="258" r:id="R8b6fb50dc03448a5"/>
    <p:sldId xmlns:r="http://schemas.openxmlformats.org/officeDocument/2006/relationships" id="259" r:id="R186d731948084d46"/>
    <p:sldId xmlns:r="http://schemas.openxmlformats.org/officeDocument/2006/relationships" id="260" r:id="Re9229f5081e54ff1"/>
    <p:sldId xmlns:r="http://schemas.openxmlformats.org/officeDocument/2006/relationships" id="261" r:id="R758eff6d4b1c410a"/>
    <p:sldId xmlns:r="http://schemas.openxmlformats.org/officeDocument/2006/relationships" id="262" r:id="Ra12511bb71a84bc9"/>
    <p:sldId xmlns:r="http://schemas.openxmlformats.org/officeDocument/2006/relationships" id="263" r:id="Re17e37b2c74b449a"/>
    <p:sldId xmlns:r="http://schemas.openxmlformats.org/officeDocument/2006/relationships" id="264" r:id="R1caf2bd7ad9f4a43"/>
    <p:sldId xmlns:r="http://schemas.openxmlformats.org/officeDocument/2006/relationships" id="265" r:id="Rb3e78ee1ce484f78"/>
    <p:sldId xmlns:r="http://schemas.openxmlformats.org/officeDocument/2006/relationships" id="266" r:id="Ra47fcb80d7384f5e"/>
    <p:sldId xmlns:r="http://schemas.openxmlformats.org/officeDocument/2006/relationships" id="267" r:id="Rb9a946da18d04647"/>
    <p:sldId xmlns:r="http://schemas.openxmlformats.org/officeDocument/2006/relationships" id="268" r:id="Rc0c1bf6b781543f1"/>
    <p:sldId xmlns:r="http://schemas.openxmlformats.org/officeDocument/2006/relationships" id="269" r:id="Rc46b22341afc463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40bbeb2ac34be9" /><Relationship Type="http://schemas.openxmlformats.org/officeDocument/2006/relationships/slideMaster" Target="/ppt/slideMasters/slideMaster1.xml" Id="R0f536048502d42cb" /><Relationship Type="http://schemas.openxmlformats.org/officeDocument/2006/relationships/notesMaster" Target="/ppt/notesMasters/notesMaster1.xml" Id="Re8209f55990c4f4a" /><Relationship Type="http://schemas.openxmlformats.org/officeDocument/2006/relationships/presProps" Target="/ppt/presProps.xml" Id="R4ba12ae438fb4013" /><Relationship Type="http://schemas.openxmlformats.org/officeDocument/2006/relationships/tableStyles" Target="/ppt/tableStyles.xml" Id="Re4022a82c8f644f7" /><Relationship Type="http://schemas.openxmlformats.org/officeDocument/2006/relationships/slide" Target="/ppt/slides/slide1.xml" Id="R392d7438f7b74ba5" /><Relationship Type="http://schemas.openxmlformats.org/officeDocument/2006/relationships/slide" Target="/ppt/slides/slide2.xml" Id="R6f87c073bab449b6" /><Relationship Type="http://schemas.openxmlformats.org/officeDocument/2006/relationships/slide" Target="/ppt/slides/slide3.xml" Id="R8b6fb50dc03448a5" /><Relationship Type="http://schemas.openxmlformats.org/officeDocument/2006/relationships/slide" Target="/ppt/slides/slide4.xml" Id="R186d731948084d46" /><Relationship Type="http://schemas.openxmlformats.org/officeDocument/2006/relationships/slide" Target="/ppt/slides/slide5.xml" Id="Re9229f5081e54ff1" /><Relationship Type="http://schemas.openxmlformats.org/officeDocument/2006/relationships/slide" Target="/ppt/slides/slide6.xml" Id="R758eff6d4b1c410a" /><Relationship Type="http://schemas.openxmlformats.org/officeDocument/2006/relationships/slide" Target="/ppt/slides/slide7.xml" Id="Ra12511bb71a84bc9" /><Relationship Type="http://schemas.openxmlformats.org/officeDocument/2006/relationships/slide" Target="/ppt/slides/slide8.xml" Id="Re17e37b2c74b449a" /><Relationship Type="http://schemas.openxmlformats.org/officeDocument/2006/relationships/slide" Target="/ppt/slides/slide9.xml" Id="R1caf2bd7ad9f4a43" /><Relationship Type="http://schemas.openxmlformats.org/officeDocument/2006/relationships/slide" Target="/ppt/slides/slide10.xml" Id="Rb3e78ee1ce484f78" /><Relationship Type="http://schemas.openxmlformats.org/officeDocument/2006/relationships/slide" Target="/ppt/slides/slide11.xml" Id="Ra47fcb80d7384f5e" /><Relationship Type="http://schemas.openxmlformats.org/officeDocument/2006/relationships/slide" Target="/ppt/slides/slide12.xml" Id="Rb9a946da18d04647" /><Relationship Type="http://schemas.openxmlformats.org/officeDocument/2006/relationships/slide" Target="/ppt/slides/slide13.xml" Id="Rc0c1bf6b781543f1" /><Relationship Type="http://schemas.openxmlformats.org/officeDocument/2006/relationships/slide" Target="/ppt/slides/slide14.xml" Id="Rc46b22341afc46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ba84dfa8f247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22d517a05349df" /><Relationship Type="http://schemas.openxmlformats.org/officeDocument/2006/relationships/notesMaster" Target="/ppt/notesMasters/notesMaster1.xml" Id="R694823ce039748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3734b5c700402e" /><Relationship Type="http://schemas.openxmlformats.org/officeDocument/2006/relationships/notesMaster" Target="/ppt/notesMasters/notesMaster1.xml" Id="R412fa6075b0047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2399105f5845ad" /><Relationship Type="http://schemas.openxmlformats.org/officeDocument/2006/relationships/notesMaster" Target="/ppt/notesMasters/notesMaster1.xml" Id="R5546f45009a142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bd71c11cf943b4" /><Relationship Type="http://schemas.openxmlformats.org/officeDocument/2006/relationships/notesMaster" Target="/ppt/notesMasters/notesMaster1.xml" Id="Ref52dcc03cb741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ec4556d1704105" /><Relationship Type="http://schemas.openxmlformats.org/officeDocument/2006/relationships/notesMaster" Target="/ppt/notesMasters/notesMaster1.xml" Id="Ra5dedfebc09444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28eadd136f44b5" /><Relationship Type="http://schemas.openxmlformats.org/officeDocument/2006/relationships/notesMaster" Target="/ppt/notesMasters/notesMaster1.xml" Id="R87096a6f7e8b40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7fa92981e64504" /><Relationship Type="http://schemas.openxmlformats.org/officeDocument/2006/relationships/notesMaster" Target="/ppt/notesMasters/notesMaster1.xml" Id="Rd2a4bca4406842d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cbaac3dbc77461e" /><Relationship Type="http://schemas.openxmlformats.org/officeDocument/2006/relationships/notesMaster" Target="/ppt/notesMasters/notesMaster1.xml" Id="R3ee19b36335b49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6e9afdfac434e79" /><Relationship Type="http://schemas.openxmlformats.org/officeDocument/2006/relationships/notesMaster" Target="/ppt/notesMasters/notesMaster1.xml" Id="R01e085ef0d6d423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68f61d5885143bd" /><Relationship Type="http://schemas.openxmlformats.org/officeDocument/2006/relationships/notesMaster" Target="/ppt/notesMasters/notesMaster1.xml" Id="Rce79e6c348bb433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72a7d9ad6a44c07" /><Relationship Type="http://schemas.openxmlformats.org/officeDocument/2006/relationships/notesMaster" Target="/ppt/notesMasters/notesMaster1.xml" Id="Rfe6328e95f9d404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9122bbf193b4f94" /><Relationship Type="http://schemas.openxmlformats.org/officeDocument/2006/relationships/notesMaster" Target="/ppt/notesMasters/notesMaster1.xml" Id="R6db46805ef8a4f9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ba3518fde924469" /><Relationship Type="http://schemas.openxmlformats.org/officeDocument/2006/relationships/notesMaster" Target="/ppt/notesMasters/notesMaster1.xml" Id="R27eef635a3c142f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4d8c5b410934e6a" /><Relationship Type="http://schemas.openxmlformats.org/officeDocument/2006/relationships/notesMaster" Target="/ppt/notesMasters/notesMaster1.xml" Id="R7c726ea149ae4c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2f180a5d0e45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2b08306485471b" /><Relationship Type="http://schemas.openxmlformats.org/officeDocument/2006/relationships/slideLayout" Target="/ppt/slideLayouts/slideLayout1.xml" Id="R16b295aae6574d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b295aae6574d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914b6b8bf645da" /><Relationship Type="http://schemas.openxmlformats.org/officeDocument/2006/relationships/image" Target="/ppt/media/image.jpeg" Id="R1a933982bf054abe" /><Relationship Type="http://schemas.openxmlformats.org/officeDocument/2006/relationships/notesSlide" Target="/ppt/notesSlides/notesSlide1.xml" Id="Rba5923fe8b554f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e546a82c124d3a" /><Relationship Type="http://schemas.openxmlformats.org/officeDocument/2006/relationships/notesSlide" Target="/ppt/notesSlides/notesSlide2.xml" Id="R0477cf3cc98b4f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d7c901692f469c" /><Relationship Type="http://schemas.openxmlformats.org/officeDocument/2006/relationships/notesSlide" Target="/ppt/notesSlides/notesSlide3.xml" Id="R5a276c60f57643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9379c2ba1741bf" /><Relationship Type="http://schemas.openxmlformats.org/officeDocument/2006/relationships/notesSlide" Target="/ppt/notesSlides/notesSlide4.xml" Id="R904db41ff80545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d26c26ba2f411c" /><Relationship Type="http://schemas.openxmlformats.org/officeDocument/2006/relationships/notesSlide" Target="/ppt/notesSlides/notesSlide5.xml" Id="Rcfdaae550eae4c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3aa81459314b39" /><Relationship Type="http://schemas.openxmlformats.org/officeDocument/2006/relationships/notesSlide" Target="/ppt/notesSlides/notesSlide6.xml" Id="R080527e4f02340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9c494895e34397" /><Relationship Type="http://schemas.openxmlformats.org/officeDocument/2006/relationships/image" Target="/ppt/media/image2.jpeg" Id="Rb2cbd6974de4406b" /><Relationship Type="http://schemas.openxmlformats.org/officeDocument/2006/relationships/notesSlide" Target="/ppt/notesSlides/notesSlide7.xml" Id="R871be5f11ca448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a11cd00fa649b4" /><Relationship Type="http://schemas.openxmlformats.org/officeDocument/2006/relationships/image" Target="/ppt/media/image3.jpeg" Id="R49ec627c8fc648c4" /><Relationship Type="http://schemas.openxmlformats.org/officeDocument/2006/relationships/notesSlide" Target="/ppt/notesSlides/notesSlide8.xml" Id="R0cfbcf9d50bc4e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ddf57fb6ec4bf4" /><Relationship Type="http://schemas.openxmlformats.org/officeDocument/2006/relationships/notesSlide" Target="/ppt/notesSlides/notesSlide9.xml" Id="Rc8c25979ca4d441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b6515cb3244174" /><Relationship Type="http://schemas.openxmlformats.org/officeDocument/2006/relationships/notesSlide" Target="/ppt/notesSlides/notesSlide10.xml" Id="Rd381f95e770241e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60c8c61136428b" /><Relationship Type="http://schemas.openxmlformats.org/officeDocument/2006/relationships/notesSlide" Target="/ppt/notesSlides/notesSlide11.xml" Id="R7225de40c1ac4d4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dc3615ba13414c" /><Relationship Type="http://schemas.openxmlformats.org/officeDocument/2006/relationships/notesSlide" Target="/ppt/notesSlides/notesSlide12.xml" Id="R5d7ce9defc3b4ef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d038d5bb9e45a0" /><Relationship Type="http://schemas.openxmlformats.org/officeDocument/2006/relationships/notesSlide" Target="/ppt/notesSlides/notesSlide13.xml" Id="R1d876a95d00d41e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0e47bb12984e13" /><Relationship Type="http://schemas.openxmlformats.org/officeDocument/2006/relationships/notesSlide" Target="/ppt/notesSlides/notesSlide14.xml" Id="Rd40cb290bf7a4c9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933982bf054abe"/>
          <a:srcRect xmlns:a="http://schemas.openxmlformats.org/drawingml/2006/main" l="23166" t="0" r="231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191250" y="514350"/>
            <a:ext cx="5543550" cy="5810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ACBCB6-1468-4117-BE1B-D5D2BCDE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4350"/>
            <a:ext cx="5543550" cy="5810250"/>
          </a:xfrm>
          <a:prstGeom xmlns:a="http://schemas.openxmlformats.org/drawingml/2006/main" prst="roundRect">
            <a:avLst>
              <a:gd name="adj" fmla="val 137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064361-7708-4AA1-8B9B-22DB9DFC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4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043"/>
          </a:solidFill>
          <a:ln xmlns:a="http://schemas.openxmlformats.org/drawingml/2006/main" w="0">
            <a:solidFill>
              <a:srgbClr val="B7604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603482-29C1-4645-845F-2409A70E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4095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OUTLOOK AI SIGNALS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741715-3210-488C-85FB-08B5CAA7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523875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뉴스가 끝난 뒤,
기대는 어떻게 달라졌을까?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AF035A-9814-4A13-8BCD-4A2C66C9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0"/>
            <a:ext cx="49530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공개 예측시장 데이터로 글로벌 이슈의
기대 변화 흐름을 읽는 모니터링 대시보드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5BC998-1328-4AC8-BCD9-CAB596F8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0"/>
            <a:ext cx="3905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E6EC"/>
          </a:solidFill>
          <a:ln xmlns:a="http://schemas.openxmlformats.org/drawingml/2006/main" w="0">
            <a:solidFill>
              <a:srgbClr val="DDE6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E60E9D-B465-4658-B33D-EA671FA7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3676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67E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PUBLIC DATA · TIME SERIES · CAUTION</a:t>
            </a:r>
          </a:p>
        </p:txBody>
      </p:sp>
    </p:spTree>
    <p:extLst>
      <p:ext uri="{BB962C8B-B14F-4D97-AF65-F5344CB8AC3E}">
        <p14:creationId xmlns:p14="http://schemas.microsoft.com/office/powerpoint/2010/main" val="20949463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2A2F72-A93C-4228-8263-C89EED3E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OUTLOOK AI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2BFBD6-2ECC-44A6-B660-E0A5518E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이슈는 넘치지만, 변화의 강도는 한눈에 보이지 않습니다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457200" y="1257300"/>
            <a:ext cx="11049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3B172B-B852-499B-8D15-EAD2B319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F55F9-DEBA-47BE-96F4-D368EE12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314325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F5F2F7-C372-437E-8A59-8329E8BC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2667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뉴스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0BB6F6-3396-4EE3-92AE-5F7F482C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2667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무슨 일이 있었는지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0F9186-ADB9-4229-B20E-F4D7CFF5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26670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사건을 빠르게 전달하지만
기대의 변화량은 직접 연결해야 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61752A-E10B-4B76-9E02-F3E848B1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809750"/>
            <a:ext cx="314325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DDE6EC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CC76E3-50F0-423D-B00C-B880B20B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57400"/>
            <a:ext cx="2667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67E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소셜 피드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F5CAC5-1791-4143-9499-F23FEADA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86050"/>
            <a:ext cx="2667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반응은 빠르지만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8EF4DA-42B8-4EE6-8190-4763BB22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33750"/>
            <a:ext cx="26670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서로 다른 관점과 잡음이 섞여
변화의 방향을 분리하기 어렵습니다.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1F0FE2-AF18-40A2-8AA1-00E16A43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09750"/>
            <a:ext cx="314325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AD5C2A-6AA9-4191-8EE7-F462FF10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57400"/>
            <a:ext cx="2667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전문 보고서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2618F6-8E22-4F76-885C-626B402D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86050"/>
            <a:ext cx="2667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깊이는 있지만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85FE90-37DD-40E0-9DFC-232D6580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33750"/>
            <a:ext cx="26670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분석에 시간이 필요해
매일의 변화를 따라가기 어렵습니다.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D2B8F4-A7E0-4E38-9F6E-4D8F4E9F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48250"/>
            <a:ext cx="9906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사용자는 결국 세 정보를 직접 연결해 ‘무엇이, 언제, 얼마나 달라졌는지’를 판단해야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12668472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FC2E5A-4CDA-4157-B307-B0E845CC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OUTLOOK AI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A3F7DB-F154-43B8-8099-5D6D4A92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공개 데이터에는 기대가 변한 흔적이 남습니다</a:t>
            </a:r>
          </a:p>
        </p:txBody>
      </p:sp>
      <p:cxnSp>
        <p:nvCxnSpPr>
          <p:cNvPr id="61" name=""/>
          <p:cNvCxnSpPr/>
          <p:nvPr/>
        </p:nvCxnSpPr>
        <p:spPr>
          <a:xfrm xmlns:a="http://schemas.openxmlformats.org/drawingml/2006/main">
            <a:off x="457200" y="1257300"/>
            <a:ext cx="11049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4FF55D-C0FB-4F02-8D16-0A1C752B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355581-493D-4867-83E6-4B237F49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3238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사건 중심 정보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804B9F-B8FF-4C18-B4ED-D06DF3AC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28575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정책 발표
공식 일정 변경
새로운 조사 결과
기관 발표</a:t>
            </a:r>
          </a:p>
        </p:txBody>
      </p:sp>
      <p:cxnSp>
        <p:nvCxnSpPr>
          <p:cNvPr id="65" name=""/>
          <p:cNvCxnSpPr/>
          <p:nvPr/>
        </p:nvCxnSpPr>
        <p:spPr>
          <a:xfrm xmlns:a="http://schemas.openxmlformats.org/drawingml/2006/main">
            <a:off x="4095750" y="3200400"/>
            <a:ext cx="14097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76043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400A51-316B-412C-94AA-F8DCB4D4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76575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76043"/>
          </a:solidFill>
          <a:ln xmlns:a="http://schemas.openxmlformats.org/drawingml/2006/main" w="0">
            <a:solidFill>
              <a:srgbClr val="B7604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C9DF98-3BA8-4420-A411-1629141B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38300"/>
            <a:ext cx="400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시간에 따른 변화</a:t>
            </a:r>
          </a:p>
        </p:txBody>
      </p:sp>
      <p:cxnSp>
        <p:nvCxnSpPr>
          <p:cNvPr id="68" name=""/>
          <p:cNvCxnSpPr/>
          <p:nvPr/>
        </p:nvCxnSpPr>
        <p:spPr>
          <a:xfrm xmlns:a="http://schemas.openxmlformats.org/drawingml/2006/main">
            <a:off x="6610350" y="4705350"/>
            <a:ext cx="42862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cxnSp>
        <p:nvCxnSpPr>
          <p:cNvPr id="69" name=""/>
          <p:cNvCxnSpPr/>
          <p:nvPr/>
        </p:nvCxnSpPr>
        <p:spPr>
          <a:xfrm xmlns:a="http://schemas.openxmlformats.org/drawingml/2006/main">
            <a:off x="6610350" y="2343150"/>
            <a:ext cx="286" cy="23622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cxnSp>
        <p:nvCxnSpPr>
          <p:cNvPr id="70" name=""/>
          <p:cNvCxnSpPr/>
          <p:nvPr/>
        </p:nvCxnSpPr>
        <p:spPr>
          <a:xfrm xmlns:a="http://schemas.openxmlformats.org/drawingml/2006/main">
            <a:off x="6724650" y="4171950"/>
            <a:ext cx="904875" cy="286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B76043"/>
            </a:solidFill>
            <a:prstDash val="solid"/>
          </a:ln>
        </p:spPr>
      </p:cxnSp>
      <p:cxnSp>
        <p:nvCxnSpPr>
          <p:cNvPr id="71" name=""/>
          <p:cNvCxnSpPr/>
          <p:nvPr/>
        </p:nvCxnSpPr>
        <p:spPr>
          <a:xfrm xmlns:a="http://schemas.openxmlformats.org/drawingml/2006/main">
            <a:off x="7629525" y="3448050"/>
            <a:ext cx="286" cy="72390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B76043"/>
            </a:solidFill>
            <a:prstDash val="solid"/>
          </a:ln>
        </p:spPr>
      </p:cxnSp>
      <p:cxnSp>
        <p:nvCxnSpPr>
          <p:cNvPr id="72" name=""/>
          <p:cNvCxnSpPr/>
          <p:nvPr/>
        </p:nvCxnSpPr>
        <p:spPr>
          <a:xfrm xmlns:a="http://schemas.openxmlformats.org/drawingml/2006/main">
            <a:off x="7629525" y="3448050"/>
            <a:ext cx="1028700" cy="286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B76043"/>
            </a:solidFill>
            <a:prstDash val="solid"/>
          </a:ln>
        </p:spPr>
      </p:cxnSp>
      <p:cxnSp>
        <p:nvCxnSpPr>
          <p:cNvPr id="73" name=""/>
          <p:cNvCxnSpPr/>
          <p:nvPr/>
        </p:nvCxnSpPr>
        <p:spPr>
          <a:xfrm xmlns:a="http://schemas.openxmlformats.org/drawingml/2006/main">
            <a:off x="8658225" y="3048000"/>
            <a:ext cx="286" cy="40005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B76043"/>
            </a:solidFill>
            <a:prstDash val="solid"/>
          </a:ln>
        </p:spPr>
      </p:cxnSp>
      <p:cxnSp>
        <p:nvCxnSpPr>
          <p:cNvPr id="74" name=""/>
          <p:cNvCxnSpPr/>
          <p:nvPr/>
        </p:nvCxnSpPr>
        <p:spPr>
          <a:xfrm xmlns:a="http://schemas.openxmlformats.org/drawingml/2006/main">
            <a:off x="8658225" y="3048000"/>
            <a:ext cx="990600" cy="286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B76043"/>
            </a:solidFill>
            <a:prstDash val="solid"/>
          </a:ln>
        </p:spPr>
      </p:cxnSp>
      <p:cxnSp>
        <p:nvCxnSpPr>
          <p:cNvPr id="75" name=""/>
          <p:cNvCxnSpPr/>
          <p:nvPr/>
        </p:nvCxnSpPr>
        <p:spPr>
          <a:xfrm xmlns:a="http://schemas.openxmlformats.org/drawingml/2006/main">
            <a:off x="9648825" y="2571750"/>
            <a:ext cx="286" cy="47625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B76043"/>
            </a:solidFill>
            <a:prstDash val="solid"/>
          </a:ln>
        </p:spPr>
      </p:cxnSp>
      <p:cxnSp>
        <p:nvCxnSpPr>
          <p:cNvPr id="76" name=""/>
          <p:cNvCxnSpPr/>
          <p:nvPr/>
        </p:nvCxnSpPr>
        <p:spPr>
          <a:xfrm xmlns:a="http://schemas.openxmlformats.org/drawingml/2006/main">
            <a:off x="9648825" y="2571750"/>
            <a:ext cx="1047750" cy="286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B76043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711BF0-94A3-42AE-B388-F0BCFF89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86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043"/>
          </a:solidFill>
          <a:ln xmlns:a="http://schemas.openxmlformats.org/drawingml/2006/main" w="0">
            <a:solidFill>
              <a:srgbClr val="B7604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B5274-48CE-434C-9CA2-374CBC0E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048250"/>
            <a:ext cx="1714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24h  +8%p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8E382B-657E-490A-B9D8-B8585D5C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048250"/>
            <a:ext cx="1714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667E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7d  +13%p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2FE515-DFEA-477B-9B48-B3874862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905500"/>
            <a:ext cx="6743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단일 숫자가 아니라 ‘재평가의 흐름’을 읽습니다.</a:t>
            </a:r>
          </a:p>
        </p:txBody>
      </p:sp>
    </p:spTree>
    <p:extLst>
      <p:ext uri="{BB962C8B-B14F-4D97-AF65-F5344CB8AC3E}">
        <p14:creationId xmlns:p14="http://schemas.microsoft.com/office/powerpoint/2010/main" val="14285224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906525-3BF3-4A1F-8FD2-0B10D8E8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OUTLOOK AI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EA9524-14ED-45CE-8033-61C6CA45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10초 안에 변화를 발견하고, 한 이슈를 끝까지 확인합니다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457200" y="1257300"/>
            <a:ext cx="11049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53C93E-AD6E-4D32-B50B-4DD9CCB4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04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2438400" y="3067050"/>
            <a:ext cx="11811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C2B8"/>
            </a:solidFill>
            <a:prstDash val="solid"/>
          </a:ln>
        </p:spPr>
      </p:cxnSp>
      <p:cxnSp>
        <p:nvCxnSpPr>
          <p:cNvPr id="43" name=""/>
          <p:cNvCxnSpPr/>
          <p:nvPr/>
        </p:nvCxnSpPr>
        <p:spPr>
          <a:xfrm xmlns:a="http://schemas.openxmlformats.org/drawingml/2006/main">
            <a:off x="5276850" y="3067050"/>
            <a:ext cx="11811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C2B8"/>
            </a:solidFill>
            <a:prstDash val="solid"/>
          </a:ln>
        </p:spPr>
      </p:cxnSp>
      <p:cxnSp>
        <p:nvCxnSpPr>
          <p:cNvPr id="44" name=""/>
          <p:cNvCxnSpPr/>
          <p:nvPr/>
        </p:nvCxnSpPr>
        <p:spPr>
          <a:xfrm xmlns:a="http://schemas.openxmlformats.org/drawingml/2006/main">
            <a:off x="8115300" y="3067050"/>
            <a:ext cx="11811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C2B8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C6B4FD-0F6B-4797-9F63-BF7FD1B2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7146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043"/>
          </a:solidFill>
          <a:ln xmlns:a="http://schemas.openxmlformats.org/drawingml/2006/main" w="0">
            <a:solidFill>
              <a:srgbClr val="B7604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BD1CA6-0289-4E50-B894-4038BF62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886075"/>
            <a:ext cx="43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C378F2-EA24-4F47-96DD-2AB3D474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2514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이슈 발견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2E6994-F363-4AFF-BF19-1AF58C05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25146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24h·7d 변화가 큰
이슈를 먼저 탐색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03A8BF-411D-46BC-85D4-FA80D8E2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146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621"/>
          </a:solidFill>
          <a:ln xmlns:a="http://schemas.openxmlformats.org/drawingml/2006/main" w="0">
            <a:solidFill>
              <a:srgbClr val="29262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00C82B-713B-49BC-BE7D-6A7F7F6D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886075"/>
            <a:ext cx="43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CB7AD3-2EE4-4368-905D-6DAEEFBB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52850"/>
            <a:ext cx="2514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변화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D828EC-0B5B-4571-974F-9F2A7A95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24350"/>
            <a:ext cx="25146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차트와 변곡 구간으로
방향과 크기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1BD19F-3834-4F18-A136-C2F83603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146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621"/>
          </a:solidFill>
          <a:ln xmlns:a="http://schemas.openxmlformats.org/drawingml/2006/main" w="0">
            <a:solidFill>
              <a:srgbClr val="29262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8E3718-16AF-4193-A815-1C6F7D3D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86075"/>
            <a:ext cx="43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092391-0245-466F-ABC9-3B665887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52850"/>
            <a:ext cx="2514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근거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DA5999-709A-4329-9E32-05300C6E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24350"/>
            <a:ext cx="25146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브리핑과 공개 출처로
현재 확인 가능한 내용 점검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F2B596-A272-4706-8AED-77EBFB01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7146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621"/>
          </a:solidFill>
          <a:ln xmlns:a="http://schemas.openxmlformats.org/drawingml/2006/main" w="0">
            <a:solidFill>
              <a:srgbClr val="29262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F59768-F2AC-45B7-ADD2-12622A6A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2886075"/>
            <a:ext cx="43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C4F3D2-A9FF-4FD2-865D-16E86B36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752850"/>
            <a:ext cx="2514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신중한 해석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142B5E-4F06-4B83-AFD0-3B6E8DA3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324350"/>
            <a:ext cx="25146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기준 시각과 주의사항으로
데이터의 한계까지 확인</a:t>
            </a:r>
          </a:p>
        </p:txBody>
      </p:sp>
    </p:spTree>
    <p:extLst>
      <p:ext uri="{BB962C8B-B14F-4D97-AF65-F5344CB8AC3E}">
        <p14:creationId xmlns:p14="http://schemas.microsoft.com/office/powerpoint/2010/main" val="20426695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D83349-94E1-4313-9B73-9D9173C4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OUTLOOK AI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6078D7-36BF-4255-992D-7C6228BE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60초 시연으로 전체 흐름을 먼저 보여드립니다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457200" y="1257300"/>
            <a:ext cx="11049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0B0BD9-8CD9-4FF5-93C7-A7C1F59B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9E11AA-9F7F-44DD-B7C2-FF22BECF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8096250" cy="4552950"/>
          </a:xfrm>
          <a:prstGeom xmlns:a="http://schemas.openxmlformats.org/drawingml/2006/main" prst="roundRect">
            <a:avLst>
              <a:gd name="adj" fmla="val 1674"/>
            </a:avLst>
          </a:prstGeom>
          <a:solidFill xmlns:a="http://schemas.openxmlformats.org/drawingml/2006/main">
            <a:srgbClr val="292621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3BC6B-F503-4C71-91DB-0BB8C3F8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048000"/>
            <a:ext cx="1352550" cy="1352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043"/>
          </a:solidFill>
          <a:ln xmlns:a="http://schemas.openxmlformats.org/drawingml/2006/main" w="0">
            <a:solidFill>
              <a:srgbClr val="B760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3736D1-E2EE-49A0-9A2C-414D698C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33750"/>
            <a:ext cx="6096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6648CB-B55A-4B7B-9C45-C038E601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610100"/>
            <a:ext cx="4476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시연 영상 삽입 영역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D5A9BC-8B33-4F64-9F28-052B2769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143500"/>
            <a:ext cx="3524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F1DDD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16:9 · 권장 길이 45–60초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69BE65-9D57-49A6-888E-883B5B79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71650"/>
            <a:ext cx="2381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시연에서 보여줄 흐름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33447B-1790-4C78-8ED8-550A1155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33650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048657-5B8F-415D-AC40-51FC7760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76500"/>
            <a:ext cx="1809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홈에서 변화가 큰
이슈 발견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E8508F-54C7-4BEC-8063-1A207FF4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24250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67E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BCCFE5-A18B-490B-AE9D-ED99D26E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467100"/>
            <a:ext cx="1809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상세 차트와
브리핑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E2F67A-25F0-4E3D-A39F-21080468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514850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8C522D-A143-4A84-B7FB-068CBD18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457700"/>
            <a:ext cx="1809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해석 주의와
조건부 대화 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F4C60A-2343-46DB-9C66-952C4EF5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619750"/>
            <a:ext cx="2571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이후 슬라이드에서 핵심 장면을 하나씩 설명합니다.</a:t>
            </a:r>
          </a:p>
        </p:txBody>
      </p:sp>
    </p:spTree>
    <p:extLst>
      <p:ext uri="{BB962C8B-B14F-4D97-AF65-F5344CB8AC3E}">
        <p14:creationId xmlns:p14="http://schemas.microsoft.com/office/powerpoint/2010/main" val="17317856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92A0F5-9BFF-46A4-882D-5796ADD4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OUTLOOK AI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473BB6-BB65-41F0-A4C5-6E92746B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홈은 오늘 가장 크게 변한 이슈부터 보여줍니다</a:t>
            </a:r>
          </a:p>
        </p:txBody>
      </p:sp>
      <p:cxnSp>
        <p:nvCxnSpPr>
          <p:cNvPr id="83" name=""/>
          <p:cNvCxnSpPr/>
          <p:nvPr/>
        </p:nvCxnSpPr>
        <p:spPr>
          <a:xfrm xmlns:a="http://schemas.openxmlformats.org/drawingml/2006/main">
            <a:off x="457200" y="1257300"/>
            <a:ext cx="11049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2F58B6-4F03-47A7-9017-F0B487391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768451-3707-4543-906D-3C943DCB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7677150" cy="4400550"/>
          </a:xfrm>
          <a:prstGeom xmlns:a="http://schemas.openxmlformats.org/drawingml/2006/main" prst="roundRect">
            <a:avLst>
              <a:gd name="adj" fmla="val 17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D6F204-B47A-4660-B9B8-D0729F12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00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오늘의 변화가 큰 이슈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16B9FA-6F14-4A55-83BF-8D6E32D4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857375"/>
            <a:ext cx="2476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데이터 기준 2026.07.13 09:00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F569FC-0D05-4170-BF29-E7B2C4AB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914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1DDD3"/>
          </a:solidFill>
          <a:ln xmlns:a="http://schemas.openxmlformats.org/drawingml/2006/main" w="0">
            <a:solidFill>
              <a:srgbClr val="F1DD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521892-028B-467A-8E55-85A64F22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9825"/>
            <a:ext cx="68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24시간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CF40B5-7217-450D-ADA1-850C2D74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343150"/>
            <a:ext cx="723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0">
            <a:solidFill>
              <a:srgbClr val="F0EC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82881E-8899-418A-A9D3-4435CC55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09825"/>
            <a:ext cx="495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7일</a:t>
            </a:r>
          </a:p>
        </p:txBody>
      </p:sp>
      <p:cxnSp>
        <p:nvCxnSpPr>
          <p:cNvPr id="92" name=""/>
          <p:cNvCxnSpPr/>
          <p:nvPr/>
        </p:nvCxnSpPr>
        <p:spPr>
          <a:xfrm xmlns:a="http://schemas.openxmlformats.org/drawingml/2006/main">
            <a:off x="781050" y="2819400"/>
            <a:ext cx="70104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6FF0AB-B732-41FC-AB61-80896FDC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3143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글로벌 정책 일정 이슈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722AE8-19E3-411E-AA15-97DD972B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95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정책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55B5F9-4E07-462E-A694-131A45B7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00375"/>
            <a:ext cx="952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1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63%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DC9A35-BA84-419C-AAFE-DA04F203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28950"/>
            <a:ext cx="876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725" b="1">
                <a:solidFill>
                  <a:srgbClr val="667E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+8%p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D7EB2D-6C79-48EF-8291-2383A83F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67050"/>
            <a:ext cx="1009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충분한 데이터</a:t>
            </a:r>
          </a:p>
        </p:txBody>
      </p:sp>
      <p:cxnSp>
        <p:nvCxnSpPr>
          <p:cNvPr id="98" name=""/>
          <p:cNvCxnSpPr/>
          <p:nvPr/>
        </p:nvCxnSpPr>
        <p:spPr>
          <a:xfrm xmlns:a="http://schemas.openxmlformats.org/drawingml/2006/main">
            <a:off x="781050" y="3733800"/>
            <a:ext cx="70104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86FA27-2ABE-443B-A502-178A2A0B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3143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기술 규제 검토 이슈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4A709A-917D-4EBD-A5DE-C8B4D471E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48150"/>
            <a:ext cx="95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기술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F5E9E3-1FC5-49AE-A3B1-F0540884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14775"/>
            <a:ext cx="952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1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41%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C393D3-EC12-4E06-9217-F290A021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943350"/>
            <a:ext cx="876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725" b="1">
                <a:solidFill>
                  <a:srgbClr val="667E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-6%p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8C7F39-EE14-46EE-ABB9-28960409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81450"/>
            <a:ext cx="1009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해석 주의</a:t>
            </a:r>
          </a:p>
        </p:txBody>
      </p:sp>
      <p:cxnSp>
        <p:nvCxnSpPr>
          <p:cNvPr id="104" name=""/>
          <p:cNvCxnSpPr/>
          <p:nvPr/>
        </p:nvCxnSpPr>
        <p:spPr>
          <a:xfrm xmlns:a="http://schemas.openxmlformats.org/drawingml/2006/main">
            <a:off x="781050" y="4648200"/>
            <a:ext cx="70104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21908A-C072-4101-897D-182A7D8B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3143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국제 협상 진행 이슈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6F47C5-524A-4253-B364-6FFC2725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95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외교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14370E-2435-43C2-B59C-FBE5C8C7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29175"/>
            <a:ext cx="952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1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72%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10BC41-6BA8-41A2-B944-2C3DB429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857750"/>
            <a:ext cx="876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725" b="1">
                <a:solidFill>
                  <a:srgbClr val="667E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+5%p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E803F6-C7DD-4D89-B408-EA52B225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95850"/>
            <a:ext cx="1009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데이터 제한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985B5A-97E9-48E0-B639-29857E51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952750" cy="358140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0">
            <a:solidFill>
              <a:srgbClr val="F0ECE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67C2B9-F4E2-45BC-8218-BBF25C6B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57400"/>
            <a:ext cx="23812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첫 화면에서 함께 보이는 것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B5A773-5AAA-4767-A5A2-FFEEDB3C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09900"/>
            <a:ext cx="22860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01  현재 반영 기대값
02  24시간·7일 관측 변화
03  해석 주의 상태
04  데이터 기준 시각</a:t>
            </a:r>
          </a:p>
        </p:txBody>
      </p:sp>
    </p:spTree>
    <p:extLst>
      <p:ext uri="{BB962C8B-B14F-4D97-AF65-F5344CB8AC3E}">
        <p14:creationId xmlns:p14="http://schemas.microsoft.com/office/powerpoint/2010/main" val="19097356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F65A8D-F371-4212-A813-21F405B0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OUTLOOK AI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FD88C9-6DC1-4203-BD32-AC69B416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상세 화면은 숫자보다 변화의 흐름을 보여줍니다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457200" y="1257300"/>
            <a:ext cx="11049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973A71-0DAA-4894-9690-E5C56F45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07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cbd6974de4406b"/>
          <a:stretch xmlns:a="http://schemas.openxmlformats.org/drawingml/2006/main"/>
        </p:blipFill>
        <p:spPr>
          <a:xfrm xmlns:a="http://schemas.openxmlformats.org/drawingml/2006/main" flipH="0" flipV="0">
            <a:off x="495300" y="1669256"/>
            <a:ext cx="7239000" cy="407193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37FEFA-B4B7-48EF-BDE6-2CF485B5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7239000" cy="4286250"/>
          </a:xfrm>
          <a:prstGeom xmlns:a="http://schemas.openxmlformats.org/drawingml/2006/main" prst="roundRect">
            <a:avLst>
              <a:gd name="adj" fmla="val 177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10C75B-1C3F-46BC-A578-F3988BDA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33550"/>
            <a:ext cx="2762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한 화면에서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4DB4B5-6C6E-4995-8E69-D40B133A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19350"/>
            <a:ext cx="2762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현재 반영 기대값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D0067A-8C20-40D1-9511-0BC849A2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24150"/>
            <a:ext cx="2762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63%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8286750" y="3600450"/>
            <a:ext cx="28575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E72CCA-DCE6-46D8-A3C3-66704E05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05250"/>
            <a:ext cx="142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24h  +8%p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D85480-1B73-4354-8A23-55FC8D23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905250"/>
            <a:ext cx="142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667E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7d  +13%p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D1FF99-5F55-4865-9570-29E2F743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10100"/>
            <a:ext cx="29527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• 기간별 선형 차트
• 큰 변화 구간 표시
• 공개 자료와 출처
• 해석 주의 및 기준 시각</a:t>
            </a:r>
          </a:p>
        </p:txBody>
      </p:sp>
    </p:spTree>
    <p:extLst>
      <p:ext uri="{BB962C8B-B14F-4D97-AF65-F5344CB8AC3E}">
        <p14:creationId xmlns:p14="http://schemas.microsoft.com/office/powerpoint/2010/main" val="20538175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7FE734-2AC4-4CC2-8623-3CCB2767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OUTLOOK AI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C35612-8DA2-4FF7-B172-B9E7B616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AI 브리핑은 검증된 내용부터 단계적으로 공개됩니다</a:t>
            </a:r>
          </a:p>
        </p:txBody>
      </p:sp>
      <p:cxnSp>
        <p:nvCxnSpPr>
          <p:cNvPr id="87" name=""/>
          <p:cNvCxnSpPr/>
          <p:nvPr/>
        </p:nvCxnSpPr>
        <p:spPr>
          <a:xfrm xmlns:a="http://schemas.openxmlformats.org/drawingml/2006/main">
            <a:off x="457200" y="1257300"/>
            <a:ext cx="11049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E8FC4B-D818-4C2E-8E54-C3D820FB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08</a:t>
            </a:r>
          </a:p>
        </p:txBody>
      </p:sp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ec627c8fc648c4"/>
          <a:srcRect xmlns:a="http://schemas.openxmlformats.org/drawingml/2006/main" l="18378" t="0" r="183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543800" y="1752600"/>
            <a:ext cx="3962400" cy="3524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9F7A9A-0A9E-4639-A2FF-F1129466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752600"/>
            <a:ext cx="3962400" cy="3524250"/>
          </a:xfrm>
          <a:prstGeom xmlns:a="http://schemas.openxmlformats.org/drawingml/2006/main" prst="roundRect">
            <a:avLst>
              <a:gd name="adj" fmla="val 2162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cxnSp>
        <p:nvCxnSpPr>
          <p:cNvPr id="91" name=""/>
          <p:cNvCxnSpPr/>
          <p:nvPr/>
        </p:nvCxnSpPr>
        <p:spPr>
          <a:xfrm xmlns:a="http://schemas.openxmlformats.org/drawingml/2006/main">
            <a:off x="1924050" y="3219450"/>
            <a:ext cx="3619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6043"/>
            </a:solidFill>
            <a:prstDash val="solid"/>
          </a:ln>
        </p:spPr>
      </p:cxnSp>
      <p:cxnSp>
        <p:nvCxnSpPr>
          <p:cNvPr id="92" name=""/>
          <p:cNvCxnSpPr/>
          <p:nvPr/>
        </p:nvCxnSpPr>
        <p:spPr>
          <a:xfrm xmlns:a="http://schemas.openxmlformats.org/drawingml/2006/main">
            <a:off x="3695700" y="3219450"/>
            <a:ext cx="3619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6043"/>
            </a:solidFill>
            <a:prstDash val="solid"/>
          </a:ln>
        </p:spPr>
      </p:cxnSp>
      <p:cxnSp>
        <p:nvCxnSpPr>
          <p:cNvPr id="93" name=""/>
          <p:cNvCxnSpPr/>
          <p:nvPr/>
        </p:nvCxnSpPr>
        <p:spPr>
          <a:xfrm xmlns:a="http://schemas.openxmlformats.org/drawingml/2006/main">
            <a:off x="5467350" y="3219450"/>
            <a:ext cx="3619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6043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1F0DDF-3D66-42AA-AB74-160B31AE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1409700" cy="20383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96CD3D-3DE5-4773-AA21-12C4ACA0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74E69D-B16D-412A-B5AC-E1289803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1104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고정 근거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BA9E3C-87EF-4C35-984F-ADB316A0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1104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이슈 정의
관측 수치
공개 출처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26A236-2689-486A-851A-0B853081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305050"/>
            <a:ext cx="1409700" cy="20383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9CA4FC-F966-464A-9129-31AC168C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47650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DF4319-9D74-40D7-8B80-CBDCB809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895600"/>
            <a:ext cx="1104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AI 작성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7A9141-D566-4322-8C78-960366A4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429000"/>
            <a:ext cx="1104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한 번의
생성 요청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530657-0772-41B6-BCD0-ED02FED4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305050"/>
            <a:ext cx="1409700" cy="20383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1DDD3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B12246-0ADF-4D08-B462-E6DE5399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7650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EF26E4-DA48-4890-9D22-078395A6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95600"/>
            <a:ext cx="1104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문단 검증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D2F4A0-87F2-4F6A-BB47-1C730233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429000"/>
            <a:ext cx="1104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수치·출처
표현·순서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D8FB43-13B7-4C10-9CF4-ED7FFE08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05050"/>
            <a:ext cx="1409700" cy="20383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9CC9AE-67F9-4709-A268-2295C2F7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6052E4-B1EE-4FBF-BBC0-08EC8D07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95600"/>
            <a:ext cx="1104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화면 공개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05F50B-B80E-47A8-9793-E34D64F0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1104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완료된 블록
순차 표시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40914F-AF2D-4A87-9825-EE86650C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85775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검증 실패</a:t>
            </a:r>
          </a:p>
        </p:txBody>
      </p:sp>
      <p:cxnSp>
        <p:nvCxnSpPr>
          <p:cNvPr id="111" name=""/>
          <p:cNvCxnSpPr/>
          <p:nvPr/>
        </p:nvCxnSpPr>
        <p:spPr>
          <a:xfrm xmlns:a="http://schemas.openxmlformats.org/drawingml/2006/main">
            <a:off x="4724400" y="4343400"/>
            <a:ext cx="286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6043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EADD0D-156B-45D4-B2EF-5E80BCB3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353050"/>
            <a:ext cx="4572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현재 시도는 공개하지 않고, 이전 정상 브리핑을 유지합니다.</a:t>
            </a:r>
          </a:p>
        </p:txBody>
      </p:sp>
    </p:spTree>
    <p:extLst>
      <p:ext uri="{BB962C8B-B14F-4D97-AF65-F5344CB8AC3E}">
        <p14:creationId xmlns:p14="http://schemas.microsoft.com/office/powerpoint/2010/main" val="20257182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7B6749-AD49-4856-807A-799EC098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OUTLOOK AI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83C385-EAB8-4431-9B4C-0BB46AC4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확인된 브리핑과 조건부 대화를 분리했습니다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457200" y="1257300"/>
            <a:ext cx="11049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4F79BE-53B3-497E-9074-51AD2695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09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6096000" y="1733550"/>
            <a:ext cx="286" cy="3657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C2B8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9C33BE-883D-41ED-9A3F-09CBC02B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4953000" cy="369570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4FDBD2-3577-4FCC-9B0F-453E9158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714500"/>
            <a:ext cx="4953000" cy="369570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DDE6EC"/>
          </a:solidFill>
          <a:ln xmlns:a="http://schemas.openxmlformats.org/drawingml/2006/main" w="9525">
            <a:solidFill>
              <a:srgbClr val="667E9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B2989F-92F7-4302-9596-9ABF7E30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4286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AI 이슈 브리핑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460F85-9D49-4BC0-85C5-B5B14BE6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4286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현재 확인된 정보를 안정적으로 읽는 문서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25462D-873E-4477-8D2F-E57D3C98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4095750" cy="1466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• 이슈 정의와 관측 수치
• 검증된 공개 자료와 출처
• 데이터 기준 시각과 주의사항
• 이전 정상 브리핑 유지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16BB8E-EB59-409E-8814-F57ED66B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1676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1DDD3"/>
          </a:solidFill>
          <a:ln xmlns:a="http://schemas.openxmlformats.org/drawingml/2006/main" w="0">
            <a:solidFill>
              <a:srgbClr val="F1DD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703CE7-8A5E-44BC-B053-C87B73F2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43475"/>
            <a:ext cx="1447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현재 핵심 경험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9AF6F9-BCCF-4FEA-83A6-49C96333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00250"/>
            <a:ext cx="4191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667E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시나리오 대화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8C9F83-63B7-4CC7-A155-075AD21C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52700"/>
            <a:ext cx="4191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가정을 현재 정보와 분리해 살펴보는 대화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000EF7-4109-42B9-A545-457D7DF9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52800"/>
            <a:ext cx="4095750" cy="1466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• 이슈별 익명 세션
• 24시간 · 최대 8개 사용자 턴
• 외부 도구 접근 없음
• 검증된 완성 문단만 순차 표시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D0B632-AAE3-4D77-B673-D37C70B9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76800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E6EC"/>
          </a:solidFill>
          <a:ln xmlns:a="http://schemas.openxmlformats.org/drawingml/2006/main" w="0">
            <a:solidFill>
              <a:srgbClr val="DDE6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BF02FB-8EC3-4596-9136-D86A571C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943475"/>
            <a:ext cx="2247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67E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기본 비활성화 · 로컬 검증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938027-0BFB-4E61-A288-FF03E6EE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886450"/>
            <a:ext cx="8191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가정이 현재 정보처럼 섞이지 않도록 두 경험을 구조적으로 분리했습니다.</a:t>
            </a:r>
          </a:p>
        </p:txBody>
      </p:sp>
    </p:spTree>
    <p:extLst>
      <p:ext uri="{BB962C8B-B14F-4D97-AF65-F5344CB8AC3E}">
        <p14:creationId xmlns:p14="http://schemas.microsoft.com/office/powerpoint/2010/main" val="10105350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1F3F2E-C486-45B0-85F0-B419973D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OUTLOOK AI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12C6B2-59F0-4A0F-BF1F-B5903C73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안전장치는 안내 문구가 아니라 제품 구조입니다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457200" y="1257300"/>
            <a:ext cx="11049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7858A6-D53A-449E-B38C-73F91382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5DA8A7-DD5C-4CBC-9E98-BBF488DD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858000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354635-8926-41B3-8435-96E39EDA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66950"/>
            <a:ext cx="5562600" cy="299085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DDE6EC"/>
          </a:solidFill>
          <a:ln xmlns:a="http://schemas.openxmlformats.org/drawingml/2006/main" w="9525">
            <a:solidFill>
              <a:srgbClr val="667E9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8CFFE9-073A-476D-AD4E-BFC222D7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724150"/>
            <a:ext cx="42291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DDD3"/>
          </a:solidFill>
          <a:ln xmlns:a="http://schemas.openxmlformats.org/drawingml/2006/main" w="9525">
            <a:solidFill>
              <a:srgbClr val="B7604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8DAE2E-6F6D-46DB-B726-2D7AC6DF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19450"/>
            <a:ext cx="2667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292621"/>
          </a:solidFill>
          <a:ln xmlns:a="http://schemas.openxmlformats.org/drawingml/2006/main" w="0">
            <a:solidFill>
              <a:srgbClr val="29262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99E382-B1D7-4257-8A5D-8B2D3C95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8120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화면 표시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712396-ADC3-4031-AF53-BB083583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45745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67E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출력 검증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D63A5F-76B7-4B0C-B821-827CE029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1465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근거 제한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C0E6A5-B907-43FC-9783-F3C58D90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62350"/>
            <a:ext cx="2095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집계 데이터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75E2DA-BE90-4FA2-AA74-1B847DF5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62150"/>
            <a:ext cx="3200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모든 수치에 기준 시각과 주의사항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105884-6DB3-4D4A-9FF0-E5701891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3200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수치·출처·표현을 동일한 규칙으로 재검증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97E37C-C013-424F-883C-35B773F2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52850"/>
            <a:ext cx="3200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AI가 사용할 수 있는 자료를 사전에 고정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FA6106-0555-4ACE-9ED2-8471D48E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648200"/>
            <a:ext cx="3200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개인 단위 탐색 없이 시장·이슈 단위로만 제공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1BA98D-A5AF-4EC0-B1A3-3770EE7F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00750"/>
            <a:ext cx="7429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결과 단정 없음  ·  임의 관계 연결 없음  ·  개인 식별 없음</a:t>
            </a:r>
          </a:p>
        </p:txBody>
      </p:sp>
    </p:spTree>
    <p:extLst>
      <p:ext uri="{BB962C8B-B14F-4D97-AF65-F5344CB8AC3E}">
        <p14:creationId xmlns:p14="http://schemas.microsoft.com/office/powerpoint/2010/main" val="11387870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60F54C-3520-468D-89C9-DC0362CF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OUTLOOK AI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CBE4E7-4089-4D4D-8C8A-63A1F901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수집과 생성 경로를 분리해 안정적으로 동작합니다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457200" y="1257300"/>
            <a:ext cx="11049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02F699-84C1-460C-84D3-85B08E61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11</a:t>
            </a:r>
          </a:p>
        </p:txBody>
      </p:sp>
      <p:cxnSp>
        <p:nvCxnSpPr>
          <p:cNvPr id="49" name=""/>
          <p:cNvCxnSpPr/>
          <p:nvPr/>
        </p:nvCxnSpPr>
        <p:spPr>
          <a:xfrm xmlns:a="http://schemas.openxmlformats.org/drawingml/2006/main">
            <a:off x="2114550" y="2895600"/>
            <a:ext cx="7810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C2B8"/>
            </a:solidFill>
            <a:prstDash val="solid"/>
          </a:ln>
        </p:spPr>
      </p:cxnSp>
      <p:cxnSp>
        <p:nvCxnSpPr>
          <p:cNvPr id="50" name=""/>
          <p:cNvCxnSpPr/>
          <p:nvPr/>
        </p:nvCxnSpPr>
        <p:spPr>
          <a:xfrm xmlns:a="http://schemas.openxmlformats.org/drawingml/2006/main">
            <a:off x="4533900" y="2895600"/>
            <a:ext cx="8191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C2B8"/>
            </a:solidFill>
            <a:prstDash val="solid"/>
          </a:ln>
        </p:spPr>
      </p:cxnSp>
      <p:cxnSp>
        <p:nvCxnSpPr>
          <p:cNvPr id="51" name=""/>
          <p:cNvCxnSpPr/>
          <p:nvPr/>
        </p:nvCxnSpPr>
        <p:spPr>
          <a:xfrm xmlns:a="http://schemas.openxmlformats.org/drawingml/2006/main">
            <a:off x="7010400" y="2895600"/>
            <a:ext cx="7810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C2B8"/>
            </a:solidFill>
            <a:prstDash val="solid"/>
          </a:ln>
        </p:spPr>
      </p:cxnSp>
      <p:cxnSp>
        <p:nvCxnSpPr>
          <p:cNvPr id="52" name=""/>
          <p:cNvCxnSpPr/>
          <p:nvPr/>
        </p:nvCxnSpPr>
        <p:spPr>
          <a:xfrm xmlns:a="http://schemas.openxmlformats.org/drawingml/2006/main">
            <a:off x="9467850" y="2895600"/>
            <a:ext cx="7048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C2B8"/>
            </a:solidFill>
            <a:prstDash val="solid"/>
          </a:ln>
        </p:spPr>
      </p:cxnSp>
      <p:cxnSp>
        <p:nvCxnSpPr>
          <p:cNvPr id="53" name=""/>
          <p:cNvCxnSpPr/>
          <p:nvPr/>
        </p:nvCxnSpPr>
        <p:spPr>
          <a:xfrm xmlns:a="http://schemas.openxmlformats.org/drawingml/2006/main">
            <a:off x="6191250" y="3943350"/>
            <a:ext cx="286" cy="7048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76043"/>
            </a:solidFill>
            <a:prstDash val="solid"/>
          </a:ln>
        </p:spPr>
      </p:cxnSp>
      <p:cxnSp>
        <p:nvCxnSpPr>
          <p:cNvPr id="54" name=""/>
          <p:cNvCxnSpPr/>
          <p:nvPr/>
        </p:nvCxnSpPr>
        <p:spPr>
          <a:xfrm xmlns:a="http://schemas.openxmlformats.org/drawingml/2006/main">
            <a:off x="6191250" y="4648200"/>
            <a:ext cx="32575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76043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63E41E-9165-4199-AC8A-45080FBD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16002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7B2AD2-0DFF-41F4-83A7-D097440E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90750"/>
            <a:ext cx="16383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C6CF1E-68FC-4991-8F23-935DDE44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90750"/>
            <a:ext cx="16573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DDE6EC"/>
          </a:solidFill>
          <a:ln xmlns:a="http://schemas.openxmlformats.org/drawingml/2006/main" w="9525">
            <a:solidFill>
              <a:srgbClr val="667E9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AEC58D-D05B-42F9-B0D7-A5FB1328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90750"/>
            <a:ext cx="16764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F6B852-EA1F-456B-97CA-78ADD00E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90750"/>
            <a:ext cx="15049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C90738-F6AC-4E07-9731-5282EAB3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43400"/>
            <a:ext cx="16573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1DDD3"/>
          </a:solidFill>
          <a:ln xmlns:a="http://schemas.openxmlformats.org/drawingml/2006/main" w="9525">
            <a:solidFill>
              <a:srgbClr val="B7604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05F651-14A4-4062-AF36-8679315F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1143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공개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D4EFF2-0EFA-41F3-BBB6-407CC1CE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514600"/>
            <a:ext cx="12192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46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4시간 주기
Python 수집기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2EF2F2-81C8-40A0-A8DB-5AF8EAFA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628900"/>
            <a:ext cx="1238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PostgreSQL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7B3728-310F-43F8-881B-930F15F8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28900"/>
            <a:ext cx="1162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FastAPI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8F8963-DD90-4CC3-B16E-0F6990D8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628900"/>
            <a:ext cx="1181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React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0D1DCD-F7F2-41D3-91E8-AA5C7AD6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86300"/>
            <a:ext cx="1276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독립 AI 워커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BD313A-BE38-485A-930F-9B9F5102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695450"/>
            <a:ext cx="4095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667E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일반 조회 경로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B46766-E7D6-41B6-B989-F25DFA9B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848350"/>
            <a:ext cx="266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사용자 요청이 있을 때만 생성</a:t>
            </a:r>
          </a:p>
        </p:txBody>
      </p:sp>
    </p:spTree>
    <p:extLst>
      <p:ext uri="{BB962C8B-B14F-4D97-AF65-F5344CB8AC3E}">
        <p14:creationId xmlns:p14="http://schemas.microsoft.com/office/powerpoint/2010/main" val="8357810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4CD451-EA49-4674-880E-3139B236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OUTLOOK AI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213850-7888-4761-8E29-C8D0C9E06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4명이 역할을 나누고, PM이 전체 연결을 지원했습니다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457200" y="1257300"/>
            <a:ext cx="11049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3162EC-5086-414F-B6AF-A684F84E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12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3943350" y="2362200"/>
            <a:ext cx="742950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6043"/>
            </a:solidFill>
            <a:prstDash val="solid"/>
          </a:ln>
        </p:spPr>
      </p:cxnSp>
      <p:cxnSp>
        <p:nvCxnSpPr>
          <p:cNvPr id="48" name=""/>
          <p:cNvCxnSpPr/>
          <p:nvPr/>
        </p:nvCxnSpPr>
        <p:spPr>
          <a:xfrm xmlns:a="http://schemas.openxmlformats.org/drawingml/2006/main">
            <a:off x="3943350" y="3429000"/>
            <a:ext cx="304800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6043"/>
            </a:solidFill>
            <a:prstDash val="solid"/>
          </a:ln>
        </p:spPr>
      </p:cxnSp>
      <p:cxnSp>
        <p:nvCxnSpPr>
          <p:cNvPr id="49" name=""/>
          <p:cNvCxnSpPr/>
          <p:nvPr/>
        </p:nvCxnSpPr>
        <p:spPr>
          <a:xfrm xmlns:a="http://schemas.openxmlformats.org/drawingml/2006/main">
            <a:off x="3943350" y="3429000"/>
            <a:ext cx="5353050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6043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0A813B-864D-4EC9-8937-0F28E2ED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57350"/>
            <a:ext cx="3448050" cy="400050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1DDD3"/>
          </a:solidFill>
          <a:ln xmlns:a="http://schemas.openxmlformats.org/drawingml/2006/main" w="9525">
            <a:solidFill>
              <a:srgbClr val="B7604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52709F-7F04-472D-B13E-89E4DD7B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57350"/>
            <a:ext cx="2095500" cy="3333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7726F4-002A-40A4-A7FF-1FD0A794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657350"/>
            <a:ext cx="2095500" cy="3333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DDE6EC"/>
          </a:solidFill>
          <a:ln xmlns:a="http://schemas.openxmlformats.org/drawingml/2006/main" w="9525">
            <a:solidFill>
              <a:srgbClr val="667E9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E510B0-7AFE-4971-A162-F3AFC117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57350"/>
            <a:ext cx="2095500" cy="3333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D25441-5E81-494D-9AB7-B4B4BA62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43100"/>
            <a:ext cx="2914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PM / Planner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8A531B-C29C-4008-830A-71143167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914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Reviewer · Debugger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783F98-23CF-4CC6-97CC-22EDA5C8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________________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DE4FF0-3D49-403C-AC78-84B79DA7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2724150" cy="1562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전체 일정·범위 조율
전 영역 구현 지원
문구·안전 검토
통합 리뷰와 디버깅
발표·데모 구성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1BF51A-244A-4452-86E2-1F45D59A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943100"/>
            <a:ext cx="1638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Frontend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F872AA-A938-44AB-83DA-FCD967FE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305050"/>
            <a:ext cx="1638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Implementer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52714F-81CB-4192-914C-024D5BA7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57500"/>
            <a:ext cx="1447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____________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CC772C-D63E-4782-AE2E-F271ECE6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505200"/>
            <a:ext cx="16383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홈·상세 화면
차트·반응형
접근성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046118-622B-4681-9CF3-8EABBCEC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43100"/>
            <a:ext cx="1638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667E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Backend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C16C25-F3FE-443E-A1B0-9310A57E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305050"/>
            <a:ext cx="1638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Implementer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EA2D4C-5FCE-4BA2-8766-4EE6C76C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57500"/>
            <a:ext cx="1447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____________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955AF8-6053-4EAE-B8C8-69216625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505200"/>
            <a:ext cx="16383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데이터베이스·API
수집·복구 경로
안정성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C7D073-F919-423B-B8CE-9F4D578B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43100"/>
            <a:ext cx="1638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Data / AI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B2EA9A-9F0E-4286-9874-C9F63460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05050"/>
            <a:ext cx="1638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Implementer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0EE770-579A-4EC9-BDD8-51601813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57500"/>
            <a:ext cx="1447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____________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A39620-8407-466C-ABED-C8266E84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05200"/>
            <a:ext cx="16383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정규화·변화 지표
근거 검증
브리핑 생성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A72688-54DF-4B52-A01E-04D63A4D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943600"/>
            <a:ext cx="8724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각 역할은 전문 영역을 맡고, PM은 전체 진행을 도우며 리뷰와 디버깅을 함께 담당했습니다.</a:t>
            </a:r>
          </a:p>
        </p:txBody>
      </p:sp>
    </p:spTree>
    <p:extLst>
      <p:ext uri="{BB962C8B-B14F-4D97-AF65-F5344CB8AC3E}">
        <p14:creationId xmlns:p14="http://schemas.microsoft.com/office/powerpoint/2010/main" val="5728867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A4DE9D-63A5-4F31-9FE6-429EE93B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OUTLOOK AI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3C0D72-2659-4549-87E3-DA88CB56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작동하는 화면뿐 아니라, 실패 방식까지 검증했습니다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457200" y="1257300"/>
            <a:ext cx="11049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006EEC-8050-42E6-A0F8-ADE2C463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DC30F8-F704-48E9-87F9-575973E7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10668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브리핑 생성 실패, 연결 중단, 데이터 부족 상태를 숨기지 않고 안전하게 복구합니다.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C46D0F-1C46-4212-860C-A7CB1164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09850"/>
            <a:ext cx="33337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1DDD3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86AB08-33CB-4816-B070-5C9E2B5D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28765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546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F89911-868D-405A-8CE8-367C89F2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2876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Backend tests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BF698-9650-41B3-8AB9-6707A8B0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28765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전체 회귀 테스트 통과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DE2D6E-BB84-4987-BB9E-873D1C4F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609850"/>
            <a:ext cx="33337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DDE6EC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9C813C-E728-44A7-93FA-0F07402A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76550"/>
            <a:ext cx="28765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667E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320px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BB0308-2FB8-4182-98DE-0CD0CB8F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62400"/>
            <a:ext cx="2876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Responsive UI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F46E35-2B2E-449E-9007-16AB6C1E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52950"/>
            <a:ext cx="28765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좁은 화면까지 레이아웃 검증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FBFEA3-D873-4D03-ADD7-6A966C1D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09850"/>
            <a:ext cx="33337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EBBE9E-EE64-4A64-9979-7690A0F0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76550"/>
            <a:ext cx="28765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07DA8E-F66B-48AF-9044-56E7A534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62400"/>
            <a:ext cx="2876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Frontend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60993C-9D21-4892-A17E-38D1F634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52950"/>
            <a:ext cx="28765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포맷·타입·린트·빌드 통과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E87CE0-24FB-4043-8675-77444A03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48350"/>
            <a:ext cx="933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SSE 재생 · 폴링 대체 · 이전 정상 결과 유지 · 잘못된 수치/표현 차단</a:t>
            </a:r>
          </a:p>
        </p:txBody>
      </p:sp>
    </p:spTree>
    <p:extLst>
      <p:ext uri="{BB962C8B-B14F-4D97-AF65-F5344CB8AC3E}">
        <p14:creationId xmlns:p14="http://schemas.microsoft.com/office/powerpoint/2010/main" val="4526633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2926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DB3B3B-2758-4C92-A32E-A5ECCE85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3143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1DDD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OUTLOOK AI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5FC258-346F-471E-ACDB-728031ED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57275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미래를 대신 판단하는 화면이 아니라,
기대가 변한 순간을 읽는 도구입니다.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2324100" y="4210050"/>
            <a:ext cx="754380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16B63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0B23F1-EE64-42EC-8656-F5C1C0A8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05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043"/>
          </a:solidFill>
          <a:ln xmlns:a="http://schemas.openxmlformats.org/drawingml/2006/main" w="0">
            <a:solidFill>
              <a:srgbClr val="B7604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0A1460-BD8C-4633-8D64-D05BB894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05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D08C92-42CF-4FFE-A4AC-9EBF6B4C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05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E95"/>
          </a:solidFill>
          <a:ln xmlns:a="http://schemas.openxmlformats.org/drawingml/2006/main" w="0">
            <a:solidFill>
              <a:srgbClr val="667E9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9092A1-519E-464E-A5BA-2764339B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59105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이슈 발견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DCF2D3-E4B0-4231-AA98-ADA30D20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59105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변화 이해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D99D0F-688F-4928-B2B0-89EE4561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591050"/>
            <a:ext cx="1619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신중한 해석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1B49BF-6DD0-4414-B7ED-E191D0B4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810250"/>
            <a:ext cx="7086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F1DDD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공개 데이터로 복잡한 글로벌 이슈의 변화 흐름을 읽습니다.</a:t>
            </a:r>
          </a:p>
        </p:txBody>
      </p:sp>
    </p:spTree>
    <p:extLst>
      <p:ext uri="{BB962C8B-B14F-4D97-AF65-F5344CB8AC3E}">
        <p14:creationId xmlns:p14="http://schemas.microsoft.com/office/powerpoint/2010/main" val="7258573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2026-07-13T06:44:19.7490000Z</dcterms:created>
  <dcterms:modified xsi:type="dcterms:W3CDTF">2026-07-13T06:44:19.7490000Z</dcterms:modified>
</coreProperties>
</file>