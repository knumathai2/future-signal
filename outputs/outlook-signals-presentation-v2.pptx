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5ef221fd214f82" /><Relationship Type="http://schemas.openxmlformats.org/officeDocument/2006/relationships/extended-properties" Target="/docProps/app.xml" Id="R9115cb3562ab4365" /><Relationship Type="http://schemas.openxmlformats.org/officeDocument/2006/relationships/officeDocument" Target="/ppt/presentation.xml" Id="R7fa706f71a9e4a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ab40893d964d38"/>
  </p:sldMasterIdLst>
  <p:notesMasterIdLst>
    <p:notesMasterId xmlns:r="http://schemas.openxmlformats.org/officeDocument/2006/relationships" r:id="R7cbf32b075d94014"/>
  </p:notesMasterIdLst>
  <p:sldIdLst>
    <p:sldId xmlns:r="http://schemas.openxmlformats.org/officeDocument/2006/relationships" id="256" r:id="Rb97f97767c0f4a6a"/>
    <p:sldId xmlns:r="http://schemas.openxmlformats.org/officeDocument/2006/relationships" id="257" r:id="R5640c0c01cd34b77"/>
    <p:sldId xmlns:r="http://schemas.openxmlformats.org/officeDocument/2006/relationships" id="258" r:id="R042bda9cdbf54291"/>
    <p:sldId xmlns:r="http://schemas.openxmlformats.org/officeDocument/2006/relationships" id="259" r:id="Rc817de797d6845cc"/>
    <p:sldId xmlns:r="http://schemas.openxmlformats.org/officeDocument/2006/relationships" id="260" r:id="R14c28aa33b5e47cc"/>
    <p:sldId xmlns:r="http://schemas.openxmlformats.org/officeDocument/2006/relationships" id="261" r:id="R701ef260718f45b4"/>
    <p:sldId xmlns:r="http://schemas.openxmlformats.org/officeDocument/2006/relationships" id="262" r:id="R4100d98219be4084"/>
    <p:sldId xmlns:r="http://schemas.openxmlformats.org/officeDocument/2006/relationships" id="263" r:id="Rfee9abbd6d7f436e"/>
    <p:sldId xmlns:r="http://schemas.openxmlformats.org/officeDocument/2006/relationships" id="264" r:id="Ra321bdecf79b48de"/>
    <p:sldId xmlns:r="http://schemas.openxmlformats.org/officeDocument/2006/relationships" id="265" r:id="Rc0808db747ef45f0"/>
    <p:sldId xmlns:r="http://schemas.openxmlformats.org/officeDocument/2006/relationships" id="266" r:id="R51f23348850b4200"/>
    <p:sldId xmlns:r="http://schemas.openxmlformats.org/officeDocument/2006/relationships" id="267" r:id="R40cbedb56c3748e5"/>
    <p:sldId xmlns:r="http://schemas.openxmlformats.org/officeDocument/2006/relationships" id="268" r:id="R71e695e9825c43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d55a0f174e477e" /><Relationship Type="http://schemas.openxmlformats.org/officeDocument/2006/relationships/slideMaster" Target="/ppt/slideMasters/slideMaster1.xml" Id="R21ab40893d964d38" /><Relationship Type="http://schemas.openxmlformats.org/officeDocument/2006/relationships/notesMaster" Target="/ppt/notesMasters/notesMaster1.xml" Id="R7cbf32b075d94014" /><Relationship Type="http://schemas.openxmlformats.org/officeDocument/2006/relationships/presProps" Target="/ppt/presProps.xml" Id="R48916d9e5ac442cb" /><Relationship Type="http://schemas.openxmlformats.org/officeDocument/2006/relationships/tableStyles" Target="/ppt/tableStyles.xml" Id="R52aa6a9ee2694ee6" /><Relationship Type="http://schemas.openxmlformats.org/officeDocument/2006/relationships/slide" Target="/ppt/slides/slide1.xml" Id="Rb97f97767c0f4a6a" /><Relationship Type="http://schemas.openxmlformats.org/officeDocument/2006/relationships/slide" Target="/ppt/slides/slide2.xml" Id="R5640c0c01cd34b77" /><Relationship Type="http://schemas.openxmlformats.org/officeDocument/2006/relationships/slide" Target="/ppt/slides/slide3.xml" Id="R042bda9cdbf54291" /><Relationship Type="http://schemas.openxmlformats.org/officeDocument/2006/relationships/slide" Target="/ppt/slides/slide4.xml" Id="Rc817de797d6845cc" /><Relationship Type="http://schemas.openxmlformats.org/officeDocument/2006/relationships/slide" Target="/ppt/slides/slide5.xml" Id="R14c28aa33b5e47cc" /><Relationship Type="http://schemas.openxmlformats.org/officeDocument/2006/relationships/slide" Target="/ppt/slides/slide6.xml" Id="R701ef260718f45b4" /><Relationship Type="http://schemas.openxmlformats.org/officeDocument/2006/relationships/slide" Target="/ppt/slides/slide7.xml" Id="R4100d98219be4084" /><Relationship Type="http://schemas.openxmlformats.org/officeDocument/2006/relationships/slide" Target="/ppt/slides/slide8.xml" Id="Rfee9abbd6d7f436e" /><Relationship Type="http://schemas.openxmlformats.org/officeDocument/2006/relationships/slide" Target="/ppt/slides/slide9.xml" Id="Ra321bdecf79b48de" /><Relationship Type="http://schemas.openxmlformats.org/officeDocument/2006/relationships/slide" Target="/ppt/slides/slide10.xml" Id="Rc0808db747ef45f0" /><Relationship Type="http://schemas.openxmlformats.org/officeDocument/2006/relationships/slide" Target="/ppt/slides/slide11.xml" Id="R51f23348850b4200" /><Relationship Type="http://schemas.openxmlformats.org/officeDocument/2006/relationships/slide" Target="/ppt/slides/slide12.xml" Id="R40cbedb56c3748e5" /><Relationship Type="http://schemas.openxmlformats.org/officeDocument/2006/relationships/slide" Target="/ppt/slides/slide13.xml" Id="R71e695e9825c43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bb080a8cd540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d22c91557b4891" /><Relationship Type="http://schemas.openxmlformats.org/officeDocument/2006/relationships/notesMaster" Target="/ppt/notesMasters/notesMaster1.xml" Id="R79b5f064298d4a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3d04ab08024c98" /><Relationship Type="http://schemas.openxmlformats.org/officeDocument/2006/relationships/notesMaster" Target="/ppt/notesMasters/notesMaster1.xml" Id="Rcfba3924d62e40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cc937ca8fd42e1" /><Relationship Type="http://schemas.openxmlformats.org/officeDocument/2006/relationships/notesMaster" Target="/ppt/notesMasters/notesMaster1.xml" Id="R54f4543725c141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f2ed3c84fc40ca" /><Relationship Type="http://schemas.openxmlformats.org/officeDocument/2006/relationships/notesMaster" Target="/ppt/notesMasters/notesMaster1.xml" Id="R90cb4f68828c42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3a16389d2b4935" /><Relationship Type="http://schemas.openxmlformats.org/officeDocument/2006/relationships/notesMaster" Target="/ppt/notesMasters/notesMaster1.xml" Id="R72a6a9d6ea4a46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347c83370a4ba7" /><Relationship Type="http://schemas.openxmlformats.org/officeDocument/2006/relationships/notesMaster" Target="/ppt/notesMasters/notesMaster1.xml" Id="R1e68c19562ee40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6b653c444c4424" /><Relationship Type="http://schemas.openxmlformats.org/officeDocument/2006/relationships/notesMaster" Target="/ppt/notesMasters/notesMaster1.xml" Id="R1a2c8d805e7246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51c5c0724b43df" /><Relationship Type="http://schemas.openxmlformats.org/officeDocument/2006/relationships/notesMaster" Target="/ppt/notesMasters/notesMaster1.xml" Id="R0bcc398c8d444d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a3709f3f924640" /><Relationship Type="http://schemas.openxmlformats.org/officeDocument/2006/relationships/notesMaster" Target="/ppt/notesMasters/notesMaster1.xml" Id="R78708c54b7394a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9c9d9987984922" /><Relationship Type="http://schemas.openxmlformats.org/officeDocument/2006/relationships/notesMaster" Target="/ppt/notesMasters/notesMaster1.xml" Id="R0247d9dc22944ec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07240c792d42fc" /><Relationship Type="http://schemas.openxmlformats.org/officeDocument/2006/relationships/notesMaster" Target="/ppt/notesMasters/notesMaster1.xml" Id="R94268cb1dc10452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ecbe0b0dd44948" /><Relationship Type="http://schemas.openxmlformats.org/officeDocument/2006/relationships/notesMaster" Target="/ppt/notesMasters/notesMaster1.xml" Id="R70a1601d3c75480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3aa20540a54fd6" /><Relationship Type="http://schemas.openxmlformats.org/officeDocument/2006/relationships/notesMaster" Target="/ppt/notesMasters/notesMaster1.xml" Id="Ree8f89c5dde246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78d67cb484f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76ce0cc5894baa" /><Relationship Type="http://schemas.openxmlformats.org/officeDocument/2006/relationships/slideLayout" Target="/ppt/slideLayouts/slideLayout1.xml" Id="R48ff4eb5c35a42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ff4eb5c35a42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c51e7baa1493e" /><Relationship Type="http://schemas.openxmlformats.org/officeDocument/2006/relationships/image" Target="/ppt/media/image.jpeg" Id="R28b64565c58343b7" /><Relationship Type="http://schemas.openxmlformats.org/officeDocument/2006/relationships/notesSlide" Target="/ppt/notesSlides/notesSlide1.xml" Id="Rde2f2433afd141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987d10a8549a7" /><Relationship Type="http://schemas.openxmlformats.org/officeDocument/2006/relationships/notesSlide" Target="/ppt/notesSlides/notesSlide2.xml" Id="R6e0f7deaba754c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665048f8640fe" /><Relationship Type="http://schemas.openxmlformats.org/officeDocument/2006/relationships/notesSlide" Target="/ppt/notesSlides/notesSlide3.xml" Id="Re5ff7a7b16204d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f6856e6a24e55" /><Relationship Type="http://schemas.openxmlformats.org/officeDocument/2006/relationships/notesSlide" Target="/ppt/notesSlides/notesSlide4.xml" Id="Rd2eb6a92607844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100869f9d4ef4" /><Relationship Type="http://schemas.openxmlformats.org/officeDocument/2006/relationships/notesSlide" Target="/ppt/notesSlides/notesSlide5.xml" Id="R6b4e57f2c4b44c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7220cc88c4ab9" /><Relationship Type="http://schemas.openxmlformats.org/officeDocument/2006/relationships/image" Target="/ppt/media/image2.jpeg" Id="R63d95c7ea24b4aef" /><Relationship Type="http://schemas.openxmlformats.org/officeDocument/2006/relationships/notesSlide" Target="/ppt/notesSlides/notesSlide6.xml" Id="Ree82ec0e85a646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a8437d9c44ea2" /><Relationship Type="http://schemas.openxmlformats.org/officeDocument/2006/relationships/image" Target="/ppt/media/image3.jpeg" Id="R11760ad54e374215" /><Relationship Type="http://schemas.openxmlformats.org/officeDocument/2006/relationships/notesSlide" Target="/ppt/notesSlides/notesSlide7.xml" Id="Rc0c95f9786ad41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1f4aa12b8435a" /><Relationship Type="http://schemas.openxmlformats.org/officeDocument/2006/relationships/notesSlide" Target="/ppt/notesSlides/notesSlide8.xml" Id="R3a0d4e7a74be4d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2be0618684289" /><Relationship Type="http://schemas.openxmlformats.org/officeDocument/2006/relationships/notesSlide" Target="/ppt/notesSlides/notesSlide9.xml" Id="Ra85c6016e5c749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1875dbf004317" /><Relationship Type="http://schemas.openxmlformats.org/officeDocument/2006/relationships/notesSlide" Target="/ppt/notesSlides/notesSlide10.xml" Id="Rd2cf6becb96c49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fac7d89fb484b" /><Relationship Type="http://schemas.openxmlformats.org/officeDocument/2006/relationships/notesSlide" Target="/ppt/notesSlides/notesSlide11.xml" Id="R427e25fb1d4b43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cf2c02b22458e" /><Relationship Type="http://schemas.openxmlformats.org/officeDocument/2006/relationships/notesSlide" Target="/ppt/notesSlides/notesSlide12.xml" Id="R854a67405dc94e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43cba02e64452" /><Relationship Type="http://schemas.openxmlformats.org/officeDocument/2006/relationships/notesSlide" Target="/ppt/notesSlides/notesSlide13.xml" Id="Ra111c69bf7a441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64565c58343b7"/>
          <a:srcRect xmlns:a="http://schemas.openxmlformats.org/drawingml/2006/main" l="23166" t="0" r="231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191250" y="514350"/>
            <a:ext cx="5543550" cy="58102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9BA50-E19F-4326-996F-5CFBDC1A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"/>
            <a:ext cx="5543550" cy="5810250"/>
          </a:xfrm>
          <a:prstGeom xmlns:a="http://schemas.openxmlformats.org/drawingml/2006/main" prst="roundRect">
            <a:avLst>
              <a:gd name="adj" fmla="val 137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0C59B-2D05-48B6-A1DD-1774AF75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4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E38491-5652-477D-8425-16F5C245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B6EFC-547B-4104-8A50-C70FBAFA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5238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뉴스가 끝난 뒤,
기대는 어떻게 달라졌을까?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E8506-64DA-454B-83A7-B357C7B9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95750"/>
            <a:ext cx="49530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예측시장 데이터로 글로벌 이슈의
기대 변화 흐름을 읽는 모니터링 대시보드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26C21-D4AC-4A64-8A4A-8667A791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3905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0">
            <a:solidFill>
              <a:srgbClr val="DDE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7394D-AAEE-48C2-94F3-71F5B250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367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PUBLIC DATA · TIME SERIES · CAUTION</a:t>
            </a:r>
          </a:p>
        </p:txBody>
      </p:sp>
    </p:spTree>
    <p:extLst>
      <p:ext uri="{BB962C8B-B14F-4D97-AF65-F5344CB8AC3E}">
        <p14:creationId xmlns:p14="http://schemas.microsoft.com/office/powerpoint/2010/main" val="507173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90A68B-5F8D-465A-9F98-1F6FE8EA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E29E4-78C2-42AE-B38F-89B6C8BC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이슈는 넘치지만, 변화의 강도는 한눈에 보이지 않습니다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A6DB2-50C9-43D9-AB63-BA39D344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1234A-B6A8-464C-AF54-141BC8EF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143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1CF8A4-CAFA-4443-84EC-020543C5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뉴스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588E5-17AC-44FD-8AE7-508600E5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667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무슨 일이 있었는지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67936D-0EC4-4EAC-94B5-99638DD7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사건을 빠르게 전달하지만
기대의 변화량은 직접 연결해야 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E37C5-901F-4115-A1AD-C7BCDCF0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09750"/>
            <a:ext cx="3143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EE1A76-EDA6-4F04-BEF7-BA957887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574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소셜 피드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78ABF-84B8-4570-853A-E46F4848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86050"/>
            <a:ext cx="2667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반응은 빠르지만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53AA2-70F5-4A08-BA0B-9532AA99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서로 다른 관점과 잡음이 섞여
변화의 방향을 분리하기 어렵습니다.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3076A-6800-4A9E-B9A8-32DE3F63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09750"/>
            <a:ext cx="3143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4DC4D7-A804-4FC4-AB98-714B3A25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57400"/>
            <a:ext cx="266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전문 보고서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8B902A-0874-403B-BE00-68207811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86050"/>
            <a:ext cx="2667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깊이는 있지만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70B08D-D697-430F-ACCA-4BFE377B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2667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분석에 시간이 필요해
매일의 변화를 따라가기 어렵습니다.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9EF4C-2099-4444-828E-F9679EBE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9906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사용자는 결국 세 정보를 직접 연결해 ‘무엇이, 언제, 얼마나 달라졌는지’를 판단해야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410169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3EA263-4A84-4CD6-AA99-9D908A6A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5A15C-BC3B-46AE-9330-D1E81C74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데이터에는 기대가 변한 흔적이 남습니다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DC2BB-9227-47FA-B925-ACA9AD7B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6FB10-E75B-4A23-A1CD-57ACA825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사건 중심 정보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1B12BD-127C-4E91-9795-25507E3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857500" cy="219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정책 발표
공식 일정 변경
새로운 조사 결과
기관 발표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4095750" y="3200400"/>
            <a:ext cx="14097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04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397E67-4F79-4F16-94C9-0745BFC0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76575"/>
            <a:ext cx="17145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1A23A-C1CA-415B-924A-09484B23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시간에 따른 변화</a:t>
            </a:r>
          </a:p>
        </p:txBody>
      </p:sp>
      <p:cxnSp>
        <p:nvCxnSpPr>
          <p:cNvPr id="68" name=""/>
          <p:cNvCxnSpPr/>
          <p:nvPr/>
        </p:nvCxnSpPr>
        <p:spPr>
          <a:xfrm xmlns:a="http://schemas.openxmlformats.org/drawingml/2006/main">
            <a:off x="6610350" y="4705350"/>
            <a:ext cx="42862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cxnSp>
        <p:nvCxnSpPr>
          <p:cNvPr id="69" name=""/>
          <p:cNvCxnSpPr/>
          <p:nvPr/>
        </p:nvCxnSpPr>
        <p:spPr>
          <a:xfrm xmlns:a="http://schemas.openxmlformats.org/drawingml/2006/main">
            <a:off x="6610350" y="2343150"/>
            <a:ext cx="286" cy="2362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cxnSp>
        <p:nvCxnSpPr>
          <p:cNvPr id="70" name=""/>
          <p:cNvCxnSpPr/>
          <p:nvPr/>
        </p:nvCxnSpPr>
        <p:spPr>
          <a:xfrm xmlns:a="http://schemas.openxmlformats.org/drawingml/2006/main">
            <a:off x="6724650" y="4171950"/>
            <a:ext cx="904875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1" name=""/>
          <p:cNvCxnSpPr/>
          <p:nvPr/>
        </p:nvCxnSpPr>
        <p:spPr>
          <a:xfrm xmlns:a="http://schemas.openxmlformats.org/drawingml/2006/main">
            <a:off x="7629525" y="3448050"/>
            <a:ext cx="286" cy="7239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2" name=""/>
          <p:cNvCxnSpPr/>
          <p:nvPr/>
        </p:nvCxnSpPr>
        <p:spPr>
          <a:xfrm xmlns:a="http://schemas.openxmlformats.org/drawingml/2006/main">
            <a:off x="7629525" y="3448050"/>
            <a:ext cx="102870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3" name=""/>
          <p:cNvCxnSpPr/>
          <p:nvPr/>
        </p:nvCxnSpPr>
        <p:spPr>
          <a:xfrm xmlns:a="http://schemas.openxmlformats.org/drawingml/2006/main">
            <a:off x="8658225" y="304800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4" name=""/>
          <p:cNvCxnSpPr/>
          <p:nvPr/>
        </p:nvCxnSpPr>
        <p:spPr>
          <a:xfrm xmlns:a="http://schemas.openxmlformats.org/drawingml/2006/main">
            <a:off x="8658225" y="3048000"/>
            <a:ext cx="99060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5" name=""/>
          <p:cNvCxnSpPr/>
          <p:nvPr/>
        </p:nvCxnSpPr>
        <p:spPr>
          <a:xfrm xmlns:a="http://schemas.openxmlformats.org/drawingml/2006/main">
            <a:off x="9648825" y="2571750"/>
            <a:ext cx="286" cy="4762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cxnSp>
        <p:nvCxnSpPr>
          <p:cNvPr id="76" name=""/>
          <p:cNvCxnSpPr/>
          <p:nvPr/>
        </p:nvCxnSpPr>
        <p:spPr>
          <a:xfrm xmlns:a="http://schemas.openxmlformats.org/drawingml/2006/main">
            <a:off x="9648825" y="2571750"/>
            <a:ext cx="1047750" cy="286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76043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527590-9810-4FA1-B2D4-CD50EFFF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4860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B7FB8-A183-4A08-8F2F-FE4E9A3E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482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24h  +8%p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0728B-6630-4386-BB52-17053815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0482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7d  +13%p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D6DD63-B53A-4299-B705-0054E93B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05500"/>
            <a:ext cx="6743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단일 숫자가 아니라 ‘재평가의 흐름’을 읽습니다.</a:t>
            </a:r>
          </a:p>
        </p:txBody>
      </p:sp>
    </p:spTree>
    <p:extLst>
      <p:ext uri="{BB962C8B-B14F-4D97-AF65-F5344CB8AC3E}">
        <p14:creationId xmlns:p14="http://schemas.microsoft.com/office/powerpoint/2010/main" val="19377794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C53255-8AEC-44B0-B68B-A9E43B9B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E3DD5C-6FDA-454A-A07D-0A0D687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10초 안에 변화를 발견하고, 한 이슈를 끝까지 확인합니다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9EF8E-262B-4CC9-8137-B7C9AF82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2438400" y="3067050"/>
            <a:ext cx="1181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5276850" y="3067050"/>
            <a:ext cx="1181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44" name=""/>
          <p:cNvCxnSpPr/>
          <p:nvPr/>
        </p:nvCxnSpPr>
        <p:spPr>
          <a:xfrm xmlns:a="http://schemas.openxmlformats.org/drawingml/2006/main">
            <a:off x="8115300" y="3067050"/>
            <a:ext cx="11811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D9AD9-AA4C-4664-BDCC-E08B9BD5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F9E6D-E472-4509-97B0-67DF65DE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A90B4-6D9D-4A88-8CC3-F7CC8850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 발견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FF6BA-19B8-427B-8538-ADC0D8A5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24h·7d 변화가 큰
이슈를 먼저 탐색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167E4-CE38-4B7A-AFE9-352EAA5C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E3AB6-6391-4E4E-9C1D-71CE232F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FF068-AB92-47CC-A2B4-E53D8DE9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변화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4C111B-A540-42F2-A2DD-53051A51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차트와 변곡 구간으로
방향과 크기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1F018F-514C-47AA-8AD2-AE840DED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7690E-C7CF-4EF7-A83D-6A825DB3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94299-9CE6-4D64-B709-327AAE90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826A4-06CD-446C-A946-45E6F867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브리핑과 공개 출처로
현재 확인 가능한 내용 점검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55D21-F858-4C72-BB68-DA40EF65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7146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3348E-6F94-4FAD-AA9F-3B398B88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2886075"/>
            <a:ext cx="438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A63AF-3311-4610-A24B-76321E9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52850"/>
            <a:ext cx="25146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신중한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900B4E-B9E6-4EC7-B4D9-6A44D205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24350"/>
            <a:ext cx="25146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기준 시각과 주의사항으로
데이터의 한계까지 확인</a:t>
            </a:r>
          </a:p>
        </p:txBody>
      </p:sp>
    </p:spTree>
    <p:extLst>
      <p:ext uri="{BB962C8B-B14F-4D97-AF65-F5344CB8AC3E}">
        <p14:creationId xmlns:p14="http://schemas.microsoft.com/office/powerpoint/2010/main" val="1591554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173DC6-6932-496D-8DBE-0F8D9528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6274F-C35D-4111-83C5-62375DCA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홈은 오늘 가장 크게 변한 이슈부터 보여줍니다</a:t>
            </a:r>
          </a:p>
        </p:txBody>
      </p:sp>
      <p:cxnSp>
        <p:nvCxnSpPr>
          <p:cNvPr id="83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3F598-F87D-4FF4-B4F9-352835C0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8A82F-4A14-4990-84D2-A5DE1A9E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767715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1079A-904B-483A-AD5C-8260C618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000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오늘의 변화가 큰 이슈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A4DC0-E826-4D93-806D-F4DE7FA6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57375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데이터 기준 2026.07.13 09:00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CFBC2-A5D1-43E1-B716-7EC6EBEF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914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0">
            <a:solidFill>
              <a:srgbClr val="F1DD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73EB3-445C-4C59-848E-EBD41ADC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685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71136-B16C-495A-BCFF-D44D8D54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343150"/>
            <a:ext cx="723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0">
            <a:solidFill>
              <a:srgbClr val="F0EC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ECFD2-FE6F-42F4-A2D3-BD5E6E8E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09825"/>
            <a:ext cx="495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7일</a:t>
            </a:r>
          </a:p>
        </p:txBody>
      </p:sp>
      <p:cxnSp>
        <p:nvCxnSpPr>
          <p:cNvPr id="92" name=""/>
          <p:cNvCxnSpPr/>
          <p:nvPr/>
        </p:nvCxnSpPr>
        <p:spPr>
          <a:xfrm xmlns:a="http://schemas.openxmlformats.org/drawingml/2006/main">
            <a:off x="781050" y="2819400"/>
            <a:ext cx="70104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670531-D26A-44B3-82F0-6CFD2DF8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글로벌 정책 일정 이슈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3FE461-617E-40C9-81BB-28974FCA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AFD2ED-7036-4102-9A8F-F48E0B1F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63%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E8CC81-91A8-4240-A4C2-D32BEE7D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289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+8%p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3BC44-AB4F-4B19-93D3-C808A728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100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충분한 데이터</a:t>
            </a:r>
          </a:p>
        </p:txBody>
      </p:sp>
      <p:cxnSp>
        <p:nvCxnSpPr>
          <p:cNvPr id="98" name=""/>
          <p:cNvCxnSpPr/>
          <p:nvPr/>
        </p:nvCxnSpPr>
        <p:spPr>
          <a:xfrm xmlns:a="http://schemas.openxmlformats.org/drawingml/2006/main">
            <a:off x="781050" y="3733800"/>
            <a:ext cx="70104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B5BAF-8939-4E2C-91EE-52053670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기술 규제 검토 이슈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1C258-87EB-4FA9-9CA2-AE5AAE0C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D2AD0-3624-4D26-8512-3AC0C0F4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14775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41%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256DB2-02D4-4463-B98B-D96370E1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9433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-6%p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014ABF-E0A0-4F84-9A9C-C21B78CD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81450"/>
            <a:ext cx="100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해석 주의</a:t>
            </a:r>
          </a:p>
        </p:txBody>
      </p:sp>
      <p:cxnSp>
        <p:nvCxnSpPr>
          <p:cNvPr id="104" name=""/>
          <p:cNvCxnSpPr/>
          <p:nvPr/>
        </p:nvCxnSpPr>
        <p:spPr>
          <a:xfrm xmlns:a="http://schemas.openxmlformats.org/drawingml/2006/main">
            <a:off x="781050" y="4648200"/>
            <a:ext cx="70104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59D6A7-835F-4BF0-9F4A-FA0CCACC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국제 협상 진행 이슈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6C4EB-07BA-489E-9BB6-71860114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외교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E58126-A08D-4897-A29F-315A3068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29175"/>
            <a:ext cx="95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21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72%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821A7-6B4A-4B26-B542-91B575B4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57750"/>
            <a:ext cx="876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+5%p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3E98FA-A31A-4A90-892A-9E34DBF1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95850"/>
            <a:ext cx="1009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데이터 제한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45FBB0-4B76-4036-9B68-7F82AC8A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952750" cy="35814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0">
            <a:solidFill>
              <a:srgbClr val="F0EC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373207-B272-4D88-8B6D-C859DB9E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238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첫 화면에서 함께 보이는 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1BF07-422D-4DE6-9063-36E5FC25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2860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  현재 반영 기대값
02  24시간·7일 관측 변화
03  해석 주의 상태
04  데이터 기준 시각</a:t>
            </a:r>
          </a:p>
        </p:txBody>
      </p:sp>
    </p:spTree>
    <p:extLst>
      <p:ext uri="{BB962C8B-B14F-4D97-AF65-F5344CB8AC3E}">
        <p14:creationId xmlns:p14="http://schemas.microsoft.com/office/powerpoint/2010/main" val="11979486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DE34C8-C3EE-4372-B4A9-AB8D38C7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42865-02A9-4C43-A0D2-C4126A2F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상세 화면은 숫자보다 변화의 흐름을 보여줍니다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CF2AC-183A-4603-8118-C106989E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95c7ea24b4aef"/>
          <a:stretch xmlns:a="http://schemas.openxmlformats.org/drawingml/2006/main"/>
        </p:blipFill>
        <p:spPr>
          <a:xfrm xmlns:a="http://schemas.openxmlformats.org/drawingml/2006/main" flipH="0" flipV="0">
            <a:off x="495300" y="1669256"/>
            <a:ext cx="7239000" cy="40719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78620-C873-4ED6-A4D4-F1ADEDE0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7239000" cy="4286250"/>
          </a:xfrm>
          <a:prstGeom xmlns:a="http://schemas.openxmlformats.org/drawingml/2006/main" prst="roundRect">
            <a:avLst>
              <a:gd name="adj" fmla="val 177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88BF0-D878-4CCD-879C-BF2A20FC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33550"/>
            <a:ext cx="2762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 화면에서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FF8BE-DC46-4B6E-8653-96AE1889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1935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반영 기대값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CB9D6-6EA9-43B8-B70A-6B667273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762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63%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8286750" y="3600450"/>
            <a:ext cx="28575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2544E-32F8-42F0-A20A-E5BD20EE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24h  +8%p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B102F-C2FA-491E-BED5-0374AD35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052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7d  +13%p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53D46-AD87-4AA6-871C-9FD7B934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952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• 기간별 선형 차트
• 큰 변화 구간 표시
• 공개 자료와 출처
• 해석 주의 및 기준 시각</a:t>
            </a:r>
          </a:p>
        </p:txBody>
      </p:sp>
    </p:spTree>
    <p:extLst>
      <p:ext uri="{BB962C8B-B14F-4D97-AF65-F5344CB8AC3E}">
        <p14:creationId xmlns:p14="http://schemas.microsoft.com/office/powerpoint/2010/main" val="1845000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DCDCFB-240E-4695-9461-61666994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BD3C2-B32F-4011-AB3C-B9470062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 브리핑은 검증된 내용부터 단계적으로 공개됩니다</a:t>
            </a:r>
          </a:p>
        </p:txBody>
      </p:sp>
      <p:cxnSp>
        <p:nvCxnSpPr>
          <p:cNvPr id="87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40E86-5308-4CEB-97D9-A7D34724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</a:t>
            </a:r>
          </a:p>
        </p:txBody>
      </p:sp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60ad54e374215"/>
          <a:srcRect xmlns:a="http://schemas.openxmlformats.org/drawingml/2006/main" l="18378" t="0" r="18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43800" y="1752600"/>
            <a:ext cx="3962400" cy="3524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0EBFB1-BD35-4918-9820-86D123BE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52600"/>
            <a:ext cx="3962400" cy="3524250"/>
          </a:xfrm>
          <a:prstGeom xmlns:a="http://schemas.openxmlformats.org/drawingml/2006/main" prst="roundRect">
            <a:avLst>
              <a:gd name="adj" fmla="val 216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cxnSp>
        <p:nvCxnSpPr>
          <p:cNvPr id="91" name=""/>
          <p:cNvCxnSpPr/>
          <p:nvPr/>
        </p:nvCxnSpPr>
        <p:spPr>
          <a:xfrm xmlns:a="http://schemas.openxmlformats.org/drawingml/2006/main">
            <a:off x="1924050" y="3219450"/>
            <a:ext cx="361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92" name=""/>
          <p:cNvCxnSpPr/>
          <p:nvPr/>
        </p:nvCxnSpPr>
        <p:spPr>
          <a:xfrm xmlns:a="http://schemas.openxmlformats.org/drawingml/2006/main">
            <a:off x="3695700" y="3219450"/>
            <a:ext cx="361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93" name=""/>
          <p:cNvCxnSpPr/>
          <p:nvPr/>
        </p:nvCxnSpPr>
        <p:spPr>
          <a:xfrm xmlns:a="http://schemas.openxmlformats.org/drawingml/2006/main">
            <a:off x="5467350" y="3219450"/>
            <a:ext cx="36195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A6018-7ED4-4D76-92C2-FC4D78BE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6DC4D-8742-47EB-AA5B-2F9BDE37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EC3B1-CBC3-4FD1-A177-49F79408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고정 근거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CB13F-3B71-4FEA-8073-E70BE04A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 정의
관측 수치
공개 출처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F8686-B0F0-4D97-BFE2-5222E70E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2F619-DDB9-4EDF-AEF3-F2DEFE49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5B4A7-CF19-40A0-A811-E7AE9D94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 작성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A909E-0CD9-4FB5-B869-1994F0BC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 번의
생성 요청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902AEB-0047-493D-A9E8-41242CE1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B2034E-F200-4C05-848C-68DE1645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C6429C-FD12-43EC-AEA6-33B02B69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문단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D15E2-ACEC-4840-A931-9F8616BB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수치·출처
표현·순서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BBAC9-D8E6-4B41-BFEF-8DD12AC6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05050"/>
            <a:ext cx="1409700" cy="20383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3FA3C5-38F5-4B65-85FD-EE07823C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C318B-2F83-45AD-9A4E-65334351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1104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화면 공개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F7B584-962D-4B0A-9653-973D364F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1104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완료된 블록
순차 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E80E4F-4D9B-4F57-A75C-C36597CA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8577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검증 실패</a:t>
            </a:r>
          </a:p>
        </p:txBody>
      </p:sp>
      <p:cxnSp>
        <p:nvCxnSpPr>
          <p:cNvPr id="111" name=""/>
          <p:cNvCxnSpPr/>
          <p:nvPr/>
        </p:nvCxnSpPr>
        <p:spPr>
          <a:xfrm xmlns:a="http://schemas.openxmlformats.org/drawingml/2006/main">
            <a:off x="4724400" y="434340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0E66E7-86AE-4E66-9390-2E9AA595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35305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시도는 공개하지 않고, 이전 정상 브리핑을 유지합니다.</a:t>
            </a:r>
          </a:p>
        </p:txBody>
      </p:sp>
    </p:spTree>
    <p:extLst>
      <p:ext uri="{BB962C8B-B14F-4D97-AF65-F5344CB8AC3E}">
        <p14:creationId xmlns:p14="http://schemas.microsoft.com/office/powerpoint/2010/main" val="10658893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1981F3-B8DB-439A-962D-CDF5A0E2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50817-FE24-4E9C-AF0D-0AB09EE7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확인된 브리핑과 조건부 대화를 분리했습니다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509B9-78B1-47E6-813D-3E9713ED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08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096000" y="1733550"/>
            <a:ext cx="286" cy="3657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2B8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EF30D-7656-40C5-9BC9-E1FB1F24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4953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5F5B4-3F7D-4D60-877F-581496FB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14500"/>
            <a:ext cx="49530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F45A1-391D-4AD2-BF6C-468DED4B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28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 이슈 브리핑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09C43-76C1-4C51-B5E1-BC570829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286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확인된 정보를 안정적으로 읽는 문서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1366E-E640-431C-967C-1508E0E7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0957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• 이슈 정의와 관측 수치
• 검증된 공개 자료와 출처
• 데이터 기준 시각과 주의사항
• 이전 정상 브리핑 유지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B0AC89-BADA-429E-A6F3-0D143EC9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0">
            <a:solidFill>
              <a:srgbClr val="F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05F83-55B6-4402-B73C-A48240A7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43475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핵심 경험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F7C90-76F3-48D5-9CCF-219C0399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4191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시나리오 대화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3E7DC-CA87-4149-BAC5-68D9854B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4191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가정을 현재 정보와 분리해 살펴보는 대화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2BE15-2BC0-4C22-ACF4-DF34CE85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52800"/>
            <a:ext cx="40957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• 이슈별 익명 세션
• 24시간 · 최대 8개 사용자 턴
• 외부 도구 접근 없음
• 검증된 완성 문단만 순차 표시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3D8E6E-3D9B-4843-BD05-2B70E17E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7680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0">
            <a:solidFill>
              <a:srgbClr val="DDE6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66068-98EF-49C1-A465-598462C0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43475"/>
            <a:ext cx="2247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기본 비활성화 · 로컬 검증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710311-C5B9-490D-B126-A2CA79F2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886450"/>
            <a:ext cx="8191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가정이 현재 정보처럼 섞이지 않도록 두 경험을 구조적으로 분리했습니다.</a:t>
            </a:r>
          </a:p>
        </p:txBody>
      </p:sp>
    </p:spTree>
    <p:extLst>
      <p:ext uri="{BB962C8B-B14F-4D97-AF65-F5344CB8AC3E}">
        <p14:creationId xmlns:p14="http://schemas.microsoft.com/office/powerpoint/2010/main" val="4150322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A559EB-115B-46EA-8144-2BD4B6A9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74AC3-3128-4C1C-842A-EB528442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안전장치는 안내 문구가 아니라 제품 구조입니다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94BC6-3B75-4F67-BF7B-0653A67A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7DA4A-D76A-4A88-AC6D-5A010C6B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6858000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9C2C1-07B0-43F8-B7FE-06BC7F7D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55626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279A9-86F2-4CB2-A060-0A7B3FB4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24150"/>
            <a:ext cx="42291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B760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B179C-C17F-424E-93F2-911F97CA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19450"/>
            <a:ext cx="2667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92621"/>
          </a:solidFill>
          <a:ln xmlns:a="http://schemas.openxmlformats.org/drawingml/2006/main" w="0">
            <a:solidFill>
              <a:srgbClr val="2926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64A37-BD5F-47B8-B3BD-293CC6EE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화면 표시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12BB1-DD14-439D-9BD8-1E38B675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출력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25C5F-9E61-450E-B57A-C535E3AA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146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 제한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3F5B6-1E58-402D-B858-6DA8BD14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2095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집계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E1A61-F0B8-4252-A503-D8468A52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모든 수치에 기준 시각과 주의사항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E789A-1EF0-4FCF-A2E5-EA3E492E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5750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수치·출처·표현을 동일한 규칙으로 재검증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45849-D42E-4E17-BE95-81A3CCD5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AI가 사용할 수 있는 자료를 사전에 고정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B0D33-9AD6-42B1-8D8A-4735610E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48200"/>
            <a:ext cx="32004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개인 단위 탐색 없이 시장·이슈 단위로만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D9B2A-3494-43A4-ABBD-D8AC1359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00750"/>
            <a:ext cx="742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결과 단정 없음  ·  임의 관계 연결 없음  ·  개인 식별 없음</a:t>
            </a:r>
          </a:p>
        </p:txBody>
      </p:sp>
    </p:spTree>
    <p:extLst>
      <p:ext uri="{BB962C8B-B14F-4D97-AF65-F5344CB8AC3E}">
        <p14:creationId xmlns:p14="http://schemas.microsoft.com/office/powerpoint/2010/main" val="16122049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A16134-6AB4-4BA6-BA3D-8DF2E26F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93BC3-5775-4E3B-BD1B-78E7A583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수집과 생성 경로를 분리해 안정적으로 동작합니다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C30A1-639A-4181-B1B4-58034571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2114550" y="2895600"/>
            <a:ext cx="781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50" name=""/>
          <p:cNvCxnSpPr/>
          <p:nvPr/>
        </p:nvCxnSpPr>
        <p:spPr>
          <a:xfrm xmlns:a="http://schemas.openxmlformats.org/drawingml/2006/main">
            <a:off x="4533900" y="2895600"/>
            <a:ext cx="8191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51" name=""/>
          <p:cNvCxnSpPr/>
          <p:nvPr/>
        </p:nvCxnSpPr>
        <p:spPr>
          <a:xfrm xmlns:a="http://schemas.openxmlformats.org/drawingml/2006/main">
            <a:off x="7010400" y="2895600"/>
            <a:ext cx="781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52" name=""/>
          <p:cNvCxnSpPr/>
          <p:nvPr/>
        </p:nvCxnSpPr>
        <p:spPr>
          <a:xfrm xmlns:a="http://schemas.openxmlformats.org/drawingml/2006/main">
            <a:off x="9467850" y="2895600"/>
            <a:ext cx="7048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2B8"/>
            </a:solidFill>
            <a:prstDash val="solid"/>
          </a:ln>
        </p:spPr>
      </p:cxnSp>
      <p:cxnSp>
        <p:nvCxnSpPr>
          <p:cNvPr id="53" name=""/>
          <p:cNvCxnSpPr/>
          <p:nvPr/>
        </p:nvCxnSpPr>
        <p:spPr>
          <a:xfrm xmlns:a="http://schemas.openxmlformats.org/drawingml/2006/main">
            <a:off x="6191250" y="3943350"/>
            <a:ext cx="286" cy="704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043"/>
            </a:solidFill>
            <a:prstDash val="solid"/>
          </a:ln>
        </p:spPr>
      </p:cxnSp>
      <p:cxnSp>
        <p:nvCxnSpPr>
          <p:cNvPr id="54" name=""/>
          <p:cNvCxnSpPr/>
          <p:nvPr/>
        </p:nvCxnSpPr>
        <p:spPr>
          <a:xfrm xmlns:a="http://schemas.openxmlformats.org/drawingml/2006/main">
            <a:off x="6191250" y="4648200"/>
            <a:ext cx="32575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76043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203FE-8F4F-426E-A794-7A1C6BAD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16002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F26AF-2131-4E9E-8974-03676B1A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90750"/>
            <a:ext cx="16383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16044-5A16-4ADA-A6FE-DE90C32B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90750"/>
            <a:ext cx="16573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03661-47CB-4230-9ED1-E53427E6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167640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9BC97-78CD-4BA0-B5D8-ADDADD8C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190750"/>
            <a:ext cx="15049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95936-2249-49EC-8050-9905873C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43400"/>
            <a:ext cx="16573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B760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99AAB-CF9B-4F51-BEC8-204E4472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143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D38FA0-AE75-4BEC-B596-9C3B2FF7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14600"/>
            <a:ext cx="1219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6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4시간 주기
Python 수집기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2182D-23CD-49E2-B3CA-EAEC55C0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28900"/>
            <a:ext cx="1238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2C22A-00AC-4D85-94E7-BE26F2A6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28900"/>
            <a:ext cx="1162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FastAPI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3D233-E2F5-4CF9-B8D4-CDEA67CE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28900"/>
            <a:ext cx="1181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102EBD-18BB-4600-BE86-5F4056FE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8630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독립 AI 워커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F95B60-D4EB-4339-A6F4-B7A778F9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695450"/>
            <a:ext cx="4095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일반 조회 경로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FC8E1-3407-4B8F-91DD-41C6A0CB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483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요청이 있을 때만 생성</a:t>
            </a:r>
          </a:p>
        </p:txBody>
      </p:sp>
    </p:spTree>
    <p:extLst>
      <p:ext uri="{BB962C8B-B14F-4D97-AF65-F5344CB8AC3E}">
        <p14:creationId xmlns:p14="http://schemas.microsoft.com/office/powerpoint/2010/main" val="1067589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E08CA5-6A0C-4D49-8E20-BC49B55B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F4A0B-21D9-4596-BA0E-AA74C6D3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4명이 역할을 나누고, PM이 전체 연결을 지원했습니다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8B4E0-D843-4D6A-9A0B-588572A4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11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3943350" y="2362200"/>
            <a:ext cx="74295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48" name=""/>
          <p:cNvCxnSpPr/>
          <p:nvPr/>
        </p:nvCxnSpPr>
        <p:spPr>
          <a:xfrm xmlns:a="http://schemas.openxmlformats.org/drawingml/2006/main">
            <a:off x="3943350" y="3429000"/>
            <a:ext cx="3048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cxnSp>
        <p:nvCxnSpPr>
          <p:cNvPr id="49" name=""/>
          <p:cNvCxnSpPr/>
          <p:nvPr/>
        </p:nvCxnSpPr>
        <p:spPr>
          <a:xfrm xmlns:a="http://schemas.openxmlformats.org/drawingml/2006/main">
            <a:off x="3943350" y="3429000"/>
            <a:ext cx="535305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7604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F0226-4838-4E29-B545-D2B3D600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3448050" cy="400050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B760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B58FB-72D9-40D2-A204-6A1A3408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57350"/>
            <a:ext cx="209550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0A571-E8F2-43F5-8475-CAA382B5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657350"/>
            <a:ext cx="209550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667E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24DB5-D96A-434A-9C79-DB10B064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57350"/>
            <a:ext cx="209550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2E8EB6-0516-4BD5-BC51-431FFCC1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914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PM / 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BC2E6-25CB-465A-AB9F-2C525232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914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Reviewer · Debugger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7216C-E096-473F-9C88-0512DD6C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________________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9DF38-576C-4C84-9428-F3ABC5DA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27241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전체 일정·범위 조율
전 영역 구현 지원
문구·안전 검토
통합 리뷰와 디버깅
발표·데모 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97072-D9F8-4D42-AF5C-B3A22B58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43100"/>
            <a:ext cx="1638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Frontend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82440-AB23-4D91-BF69-9A7390C2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0505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Implementer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52CF2-BEF1-4D01-A4DA-C7E13589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575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____________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FEDE4E-4125-4F74-8614-5F943AC4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505200"/>
            <a:ext cx="16383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홈·상세 화면
차트·반응형
접근성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8618C8-8A61-41BF-B8CF-41316A03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43100"/>
            <a:ext cx="1638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Backend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EC933-57DB-4DC7-A61F-82105D97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0505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Implementer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7CEAD1-C1C3-481E-9C0C-0C61C4BE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____________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F4B3F-3620-4DDE-A2E0-B16A1703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505200"/>
            <a:ext cx="16383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데이터베이스·API
수집·복구 경로
안정성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02449E-A781-4C74-BEA9-2C9BA6F5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43100"/>
            <a:ext cx="16383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Data /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D60BDF-9DBF-4C2D-900C-70B7E32D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05050"/>
            <a:ext cx="1638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Implementer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017DE8-C9AB-4419-9F3A-300F3F6D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57500"/>
            <a:ext cx="1447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____________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768080-93E6-4BBC-A045-F237464A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05200"/>
            <a:ext cx="16383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정규화·변화 지표
근거 검증
브리핑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75460D-7BF4-44F2-80F4-3880E81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943600"/>
            <a:ext cx="8724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각 역할은 전문 영역을 맡고, PM은 전체 진행을 도우며 리뷰와 디버깅을 함께 담당했습니다.</a:t>
            </a:r>
          </a:p>
        </p:txBody>
      </p:sp>
    </p:spTree>
    <p:extLst>
      <p:ext uri="{BB962C8B-B14F-4D97-AF65-F5344CB8AC3E}">
        <p14:creationId xmlns:p14="http://schemas.microsoft.com/office/powerpoint/2010/main" val="14233408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98CCE8-9FE4-4553-B383-36F7FCC3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B3935-880C-4149-83F3-CC226B76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작동하는 화면뿐 아니라, 실패 방식까지 검증했습니다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457200" y="1257300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2B8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5B8DD-468D-4DF4-9FEF-DAF7765B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6D72A-9046-4136-92E2-F903D717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0668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브리핑 생성 실패, 연결 중단, 데이터 부족 상태를 숨기지 않고 안전하게 복구합니다.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A9CE2-DE58-484E-9944-684D9C69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1DDD3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EF52F-9F2D-403D-8C24-93841E41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28765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546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E212E-A23C-439E-86FE-9C7753DB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Backend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CCF12-AF22-4495-9E0F-46BF72A5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287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전체 회귀 테스트 통과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7C7C8-B428-4FAA-A2E5-58BFA974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0985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DE6EC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16E9C-336D-4A2F-AFE3-766C558D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76550"/>
            <a:ext cx="28765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667E9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320px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3E6922-E092-4C2B-99C8-37F82826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624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Responsive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73832-8B40-462C-8003-D290A071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52950"/>
            <a:ext cx="287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좁은 화면까지 레이아웃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284E9-5EB6-4DA5-9279-B6D516DA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09850"/>
            <a:ext cx="3333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0ECE4"/>
          </a:solidFill>
          <a:ln xmlns:a="http://schemas.openxmlformats.org/drawingml/2006/main" w="9525">
            <a:solidFill>
              <a:srgbClr val="C9C2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A8681E-192A-482A-B680-E1E4B280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76550"/>
            <a:ext cx="28765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1AF54-1CAC-4103-93C8-8EFEB289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2876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4211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Frontend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2FB04B-CF51-48D4-AF14-151C321D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2876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16B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포맷·타입·린트·빌드 통과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C8D0A7-11D2-440C-B85E-D6966FEE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7604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SSE 재생 · 폴링 대체 · 이전 정상 결과 유지 · 잘못된 수치/표현 차단</a:t>
            </a:r>
          </a:p>
        </p:txBody>
      </p:sp>
    </p:spTree>
    <p:extLst>
      <p:ext uri="{BB962C8B-B14F-4D97-AF65-F5344CB8AC3E}">
        <p14:creationId xmlns:p14="http://schemas.microsoft.com/office/powerpoint/2010/main" val="14430961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926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98C079-DFDF-4C53-AB5C-B7B3431B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1DDD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OUTLOOK AI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39BB0D-5FA3-455E-A7B5-C64B93D5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57275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미래를 대신 판단하는 화면이 아니라,
기대가 변한 순간을 읽는 도구입니다.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2324100" y="4210050"/>
            <a:ext cx="75438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16B63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4B7F2-300A-45BA-BC9C-B3357900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05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043"/>
          </a:solidFill>
          <a:ln xmlns:a="http://schemas.openxmlformats.org/drawingml/2006/main" w="0">
            <a:solidFill>
              <a:srgbClr val="B7604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DC3DE-3E62-48E1-9EB9-2E41988F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05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9FAAB-35DE-4FAB-989E-4C775DB0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05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7E95"/>
          </a:solidFill>
          <a:ln xmlns:a="http://schemas.openxmlformats.org/drawingml/2006/main" w="0">
            <a:solidFill>
              <a:srgbClr val="667E9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48FC0-E314-484C-8E9C-D1ADE2A2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이슈 발견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427BD-1B08-48CC-AD01-8429D4A4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910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변화 이해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D0FC5-E8E0-46C8-8888-2B581D8A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1050"/>
            <a:ext cx="161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신중한 해석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AD26D-83EB-4AB7-9C1A-75A66EB5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810250"/>
            <a:ext cx="7086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F1DDD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공개 데이터로 복잡한 글로벌 이슈의 변화 흐름을 읽습니다.</a:t>
            </a:r>
          </a:p>
        </p:txBody>
      </p:sp>
    </p:spTree>
    <p:extLst>
      <p:ext uri="{BB962C8B-B14F-4D97-AF65-F5344CB8AC3E}">
        <p14:creationId xmlns:p14="http://schemas.microsoft.com/office/powerpoint/2010/main" val="12024211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2026-07-13T06:44:18.0120000Z</dcterms:created>
  <dcterms:modified xsi:type="dcterms:W3CDTF">2026-07-13T06:44:18.0120000Z</dcterms:modified>
</coreProperties>
</file>